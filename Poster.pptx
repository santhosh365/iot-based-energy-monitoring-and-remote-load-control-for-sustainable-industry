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14211300" cy="20104100"/>
  <p:notesSz cx="14211300" cy="20104100"/>
  <p:defaultTextStyle>
    <a:defPPr>
      <a:defRPr kern="0"/>
    </a:defPPr>
  </p:defaultTextStyle>
  <p:extLst>
    <p:ext uri="{EFAFB233-063F-42B5-8137-9DF3F51BA10A}">
      <p15:sldGuideLst xmlns:p15="http://schemas.microsoft.com/office/powerpoint/2012/main">
        <p15:guide id="1" orient="horz" pos="2894" userDrawn="1">
          <p15:clr>
            <a:srgbClr val="A4A3A4"/>
          </p15:clr>
        </p15:guide>
        <p15:guide id="2" pos="21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66" d="100"/>
          <a:sy n="66" d="100"/>
        </p:scale>
        <p:origin x="878" y="38"/>
      </p:cViewPr>
      <p:guideLst>
        <p:guide orient="horz" pos="2894"/>
        <p:guide pos="217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66323" y="6232271"/>
            <a:ext cx="12085003" cy="4221861"/>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2132647" y="11258296"/>
            <a:ext cx="9952355" cy="5026025"/>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sz="half" idx="2"/>
          </p:nvPr>
        </p:nvSpPr>
        <p:spPr>
          <a:xfrm>
            <a:off x="710882" y="4623943"/>
            <a:ext cx="6184678" cy="13268707"/>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7322089" y="4623943"/>
            <a:ext cx="6184678" cy="13268707"/>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bg object 17"/>
          <p:cNvSpPr/>
          <p:nvPr/>
        </p:nvSpPr>
        <p:spPr>
          <a:xfrm>
            <a:off x="0" y="0"/>
            <a:ext cx="14212569" cy="2546350"/>
          </a:xfrm>
          <a:custGeom>
            <a:avLst/>
            <a:gdLst/>
            <a:ahLst/>
            <a:cxnLst/>
            <a:rect l="l" t="t" r="r" b="b"/>
            <a:pathLst>
              <a:path w="14212569" h="2546350">
                <a:moveTo>
                  <a:pt x="0" y="2545911"/>
                </a:moveTo>
                <a:lnTo>
                  <a:pt x="14212566" y="2545911"/>
                </a:lnTo>
                <a:lnTo>
                  <a:pt x="14212566" y="0"/>
                </a:lnTo>
                <a:lnTo>
                  <a:pt x="0" y="0"/>
                </a:lnTo>
                <a:lnTo>
                  <a:pt x="0" y="2545911"/>
                </a:lnTo>
                <a:close/>
              </a:path>
            </a:pathLst>
          </a:custGeom>
          <a:ln w="8098">
            <a:solidFill>
              <a:srgbClr val="172C51"/>
            </a:solidFill>
          </a:ln>
        </p:spPr>
        <p:txBody>
          <a:bodyPr wrap="square" lIns="0" tIns="0" rIns="0" bIns="0" rtlCol="0"/>
          <a:lstStyle/>
          <a:p/>
        </p:txBody>
      </p:sp>
      <p:sp>
        <p:nvSpPr>
          <p:cNvPr id="2" name="Holder 2"/>
          <p:cNvSpPr>
            <a:spLocks noGrp="1"/>
          </p:cNvSpPr>
          <p:nvPr>
            <p:ph type="title"/>
          </p:nvPr>
        </p:nvSpPr>
        <p:spPr>
          <a:xfrm>
            <a:off x="710882" y="804164"/>
            <a:ext cx="12795885" cy="3216656"/>
          </a:xfrm>
          <a:prstGeom prst="rect">
            <a:avLst/>
          </a:prstGeom>
        </p:spPr>
        <p:txBody>
          <a:bodyPr wrap="square" lIns="0" tIns="0" rIns="0" bIns="0">
            <a:spAutoFit/>
          </a:bodyPr>
          <a:lstStyle>
            <a:lvl1pPr>
              <a:defRPr/>
            </a:lvl1pPr>
          </a:lstStyle>
          <a:p/>
        </p:txBody>
      </p:sp>
      <p:sp>
        <p:nvSpPr>
          <p:cNvPr id="3" name="Holder 3"/>
          <p:cNvSpPr>
            <a:spLocks noGrp="1"/>
          </p:cNvSpPr>
          <p:nvPr>
            <p:ph type="body" idx="1"/>
          </p:nvPr>
        </p:nvSpPr>
        <p:spPr>
          <a:xfrm>
            <a:off x="710882" y="4623943"/>
            <a:ext cx="12795885" cy="13268707"/>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4834001" y="18696814"/>
            <a:ext cx="4549648" cy="1005205"/>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710882" y="18696814"/>
            <a:ext cx="3270059" cy="100520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0236708" y="18696814"/>
            <a:ext cx="3270059" cy="10052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5.xml"/><Relationship Id="rId7" Type="http://schemas.openxmlformats.org/officeDocument/2006/relationships/image" Target="../media/image6.png"/><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2012950" y="908050"/>
            <a:ext cx="10046970" cy="1289050"/>
          </a:xfrm>
          <a:prstGeom prst="rect">
            <a:avLst/>
          </a:prstGeom>
        </p:spPr>
        <p:txBody>
          <a:bodyPr vert="horz" wrap="square" lIns="0" tIns="11430" rIns="0" bIns="0" rtlCol="0">
            <a:spAutoFit/>
          </a:bodyPr>
          <a:lstStyle/>
          <a:p>
            <a:pPr algn="ctr">
              <a:lnSpc>
                <a:spcPct val="100000"/>
              </a:lnSpc>
              <a:spcBef>
                <a:spcPts val="2020"/>
              </a:spcBef>
            </a:pPr>
            <a:r>
              <a:rPr lang="en-US" altLang="en-US" sz="2400" b="0" u="none" dirty="0">
                <a:latin typeface="Times New Roman" panose="02020603050405020304" pitchFamily="18" charset="0"/>
                <a:ea typeface="Microsoft JhengHei" panose="020B0604030504040204" pitchFamily="34" charset="-120"/>
                <a:sym typeface="+mn-ea"/>
              </a:rPr>
              <a:t>IoT Based Energy Monitoring and Remote Load Control For Sustainable Industry</a:t>
            </a:r>
            <a:endParaRPr lang="en-US" altLang="en-US" sz="2400" b="0" u="none" dirty="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pitchFamily="18" charset="0"/>
              <a:ea typeface="Times New Roman" panose="02020603050405020304" pitchFamily="18" charset="0"/>
            </a:endParaRPr>
          </a:p>
          <a:p>
            <a:pPr algn="ctr">
              <a:lnSpc>
                <a:spcPct val="100000"/>
              </a:lnSpc>
              <a:spcBef>
                <a:spcPts val="2020"/>
              </a:spcBef>
            </a:pPr>
            <a:r>
              <a:rPr lang="en-US" sz="2400" dirty="0">
                <a:latin typeface="Times New Roman" panose="02020603050405020304" pitchFamily="18" charset="0"/>
                <a:cs typeface="Times New Roman" panose="02020603050405020304" pitchFamily="18" charset="0"/>
              </a:rPr>
              <a:t> </a:t>
            </a:r>
            <a:r>
              <a:rPr lang="en-US" altLang="en-US" sz="1600" b="1" dirty="0">
                <a:solidFill>
                  <a:schemeClr val="tx1"/>
                </a:solidFill>
                <a:latin typeface="Times New Roman" panose="02020603050405020304" pitchFamily="18" charset="0"/>
                <a:cs typeface="Times New Roman" panose="02020603050405020304" pitchFamily="18" charset="0"/>
              </a:rPr>
              <a:t>Seelam Santhosh, Yarramsetty Anusha, Mailapalli Naveen, Peddiboyina Bhanu Sai Teja</a:t>
            </a:r>
            <a:endParaRPr lang="en-US" altLang="en-US" sz="1600" b="1" dirty="0">
              <a:solidFill>
                <a:schemeClr val="tx1"/>
              </a:solidFill>
              <a:latin typeface="Times New Roman" panose="02020603050405020304" pitchFamily="18" charset="0"/>
              <a:cs typeface="Times New Roman" panose="02020603050405020304" pitchFamily="18" charset="0"/>
            </a:endParaRPr>
          </a:p>
          <a:p>
            <a:pPr algn="ctr">
              <a:lnSpc>
                <a:spcPct val="100000"/>
              </a:lnSpc>
              <a:spcBef>
                <a:spcPts val="25"/>
              </a:spcBef>
            </a:pPr>
            <a:r>
              <a:rPr lang="en-US" b="1" dirty="0">
                <a:solidFill>
                  <a:schemeClr val="tx1"/>
                </a:solidFill>
                <a:latin typeface="Times New Roman" panose="02020603050405020304" pitchFamily="18" charset="0"/>
                <a:cs typeface="Times New Roman" panose="02020603050405020304" pitchFamily="18" charset="0"/>
              </a:rPr>
              <a:t>SESHADRI RAO GUDLAVALLERU ENGINEERING COLLEGE, 521356</a:t>
            </a:r>
            <a:endParaRPr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03687" y="2938680"/>
            <a:ext cx="4376420" cy="272510"/>
          </a:xfrm>
          <a:prstGeom prst="rect">
            <a:avLst/>
          </a:prstGeom>
          <a:solidFill>
            <a:schemeClr val="accent6"/>
          </a:solidFill>
        </p:spPr>
        <p:txBody>
          <a:bodyPr vert="horz" wrap="square" lIns="0" tIns="18415" rIns="0" bIns="0" rtlCol="0">
            <a:spAutoFit/>
          </a:bodyPr>
          <a:lstStyle/>
          <a:p>
            <a:pPr algn="ctr">
              <a:lnSpc>
                <a:spcPct val="100000"/>
              </a:lnSpc>
              <a:spcBef>
                <a:spcPts val="145"/>
              </a:spcBef>
            </a:pPr>
            <a:r>
              <a:rPr sz="1650" b="1" spc="300" dirty="0">
                <a:solidFill>
                  <a:srgbClr val="FFFFFF"/>
                </a:solidFill>
                <a:latin typeface="Times New Roman" panose="02020603050405020304" pitchFamily="18" charset="0"/>
                <a:cs typeface="Times New Roman" panose="02020603050405020304" pitchFamily="18" charset="0"/>
              </a:rPr>
              <a:t>Introduction</a:t>
            </a:r>
            <a:endParaRPr sz="1650" spc="3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440575" y="3346311"/>
            <a:ext cx="3897629" cy="1546860"/>
          </a:xfrm>
          <a:prstGeom prst="rect">
            <a:avLst/>
          </a:prstGeom>
        </p:spPr>
        <p:txBody>
          <a:bodyPr vert="horz" wrap="square" lIns="0" tIns="12065" rIns="0" bIns="0" rtlCol="0">
            <a:spAutoFit/>
          </a:bodyPr>
          <a:lstStyle/>
          <a:p>
            <a:pPr marL="12700" marR="5080">
              <a:lnSpc>
                <a:spcPct val="102000"/>
              </a:lnSpc>
              <a:spcBef>
                <a:spcPts val="95"/>
              </a:spcBef>
            </a:pPr>
            <a:r>
              <a:rPr lang="en-US" altLang="en-US" sz="1400" dirty="0">
                <a:latin typeface="Arial" panose="020B0604020202020204" pitchFamily="34" charset="0"/>
                <a:cs typeface="Arial" panose="020B0604020202020204" pitchFamily="34" charset="0"/>
              </a:rPr>
              <a:t>IoT Based Energy Monitoring and Remote Load Control For Sustainable Industry uses IoT technology to monitor electricity usage and control industrial loads remotely in real time. It helps reduce energy wastage, improves power efficiency, and supports smarter and more sustainable industrial energy management.</a:t>
            </a:r>
            <a:endParaRPr lang="en-US" altLang="en-US" sz="1400" dirty="0">
              <a:latin typeface="Arial" panose="020B0604020202020204" pitchFamily="34" charset="0"/>
              <a:cs typeface="Arial" panose="020B0604020202020204" pitchFamily="34" charset="0"/>
            </a:endParaRPr>
          </a:p>
        </p:txBody>
      </p:sp>
      <p:sp>
        <p:nvSpPr>
          <p:cNvPr id="7" name="object 7"/>
          <p:cNvSpPr txBox="1"/>
          <p:nvPr/>
        </p:nvSpPr>
        <p:spPr>
          <a:xfrm>
            <a:off x="303687" y="7842209"/>
            <a:ext cx="4376420" cy="273152"/>
          </a:xfrm>
          <a:prstGeom prst="rect">
            <a:avLst/>
          </a:prstGeom>
          <a:solidFill>
            <a:schemeClr val="accent6"/>
          </a:solidFill>
          <a:ln>
            <a:solidFill>
              <a:schemeClr val="accent6"/>
            </a:solidFill>
          </a:ln>
        </p:spPr>
        <p:txBody>
          <a:bodyPr vert="horz" wrap="square" lIns="0" tIns="19050" rIns="0" bIns="0" rtlCol="0">
            <a:spAutoFit/>
          </a:bodyPr>
          <a:lstStyle/>
          <a:p>
            <a:pPr marL="920750">
              <a:lnSpc>
                <a:spcPct val="100000"/>
              </a:lnSpc>
              <a:spcBef>
                <a:spcPts val="150"/>
              </a:spcBef>
            </a:pPr>
            <a:r>
              <a:rPr lang="en-US" sz="1650" b="1" spc="300" dirty="0">
                <a:solidFill>
                  <a:srgbClr val="FFFFFF"/>
                </a:solidFill>
                <a:latin typeface="Times New Roman" panose="02020603050405020304" pitchFamily="18" charset="0"/>
                <a:cs typeface="Times New Roman" panose="02020603050405020304" pitchFamily="18" charset="0"/>
              </a:rPr>
              <a:t>     Objectives:  </a:t>
            </a:r>
            <a:endParaRPr sz="1650" spc="300" dirty="0">
              <a:latin typeface="Times New Roman" panose="02020603050405020304" pitchFamily="18" charset="0"/>
              <a:cs typeface="Times New Roman" panose="02020603050405020304" pitchFamily="18" charset="0"/>
            </a:endParaRPr>
          </a:p>
        </p:txBody>
      </p:sp>
      <p:sp>
        <p:nvSpPr>
          <p:cNvPr id="8" name="object 8"/>
          <p:cNvSpPr txBox="1"/>
          <p:nvPr/>
        </p:nvSpPr>
        <p:spPr>
          <a:xfrm>
            <a:off x="603177" y="14479849"/>
            <a:ext cx="240665" cy="99385"/>
          </a:xfrm>
          <a:prstGeom prst="rect">
            <a:avLst/>
          </a:prstGeom>
        </p:spPr>
        <p:txBody>
          <a:bodyPr vert="horz" wrap="square" lIns="0" tIns="14604" rIns="0" bIns="0" rtlCol="0">
            <a:spAutoFit/>
          </a:bodyPr>
          <a:lstStyle/>
          <a:p>
            <a:pPr marL="12700">
              <a:lnSpc>
                <a:spcPct val="100000"/>
              </a:lnSpc>
              <a:spcBef>
                <a:spcPts val="115"/>
              </a:spcBef>
            </a:pPr>
            <a:r>
              <a:rPr sz="550" spc="-50" dirty="0">
                <a:solidFill>
                  <a:srgbClr val="1BACCF"/>
                </a:solidFill>
                <a:latin typeface="Times New Roman" panose="02020603050405020304" pitchFamily="18" charset="0"/>
                <a:cs typeface="Times New Roman" panose="02020603050405020304" pitchFamily="18" charset="0"/>
              </a:rPr>
              <a:t>1</a:t>
            </a:r>
            <a:endParaRPr sz="550" dirty="0">
              <a:latin typeface="Times New Roman" panose="02020603050405020304" pitchFamily="18" charset="0"/>
              <a:cs typeface="Times New Roman" panose="02020603050405020304" pitchFamily="18" charset="0"/>
            </a:endParaRPr>
          </a:p>
        </p:txBody>
      </p:sp>
      <p:sp>
        <p:nvSpPr>
          <p:cNvPr id="9" name="object 9"/>
          <p:cNvSpPr txBox="1"/>
          <p:nvPr/>
        </p:nvSpPr>
        <p:spPr>
          <a:xfrm>
            <a:off x="1928705" y="14498660"/>
            <a:ext cx="240665" cy="99385"/>
          </a:xfrm>
          <a:prstGeom prst="rect">
            <a:avLst/>
          </a:prstGeom>
        </p:spPr>
        <p:txBody>
          <a:bodyPr vert="horz" wrap="square" lIns="0" tIns="14604" rIns="0" bIns="0" rtlCol="0">
            <a:spAutoFit/>
          </a:bodyPr>
          <a:lstStyle/>
          <a:p>
            <a:pPr marL="12700">
              <a:lnSpc>
                <a:spcPct val="100000"/>
              </a:lnSpc>
              <a:spcBef>
                <a:spcPts val="115"/>
              </a:spcBef>
            </a:pPr>
            <a:r>
              <a:rPr sz="550" spc="-50" dirty="0">
                <a:solidFill>
                  <a:srgbClr val="1BACCF"/>
                </a:solidFill>
                <a:latin typeface="Times New Roman" panose="02020603050405020304" pitchFamily="18" charset="0"/>
                <a:cs typeface="Times New Roman" panose="02020603050405020304" pitchFamily="18" charset="0"/>
              </a:rPr>
              <a:t>2</a:t>
            </a:r>
            <a:endParaRPr sz="550"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4077968" y="13414750"/>
            <a:ext cx="55244" cy="76944"/>
          </a:xfrm>
          <a:prstGeom prst="rect">
            <a:avLst/>
          </a:prstGeom>
        </p:spPr>
        <p:txBody>
          <a:bodyPr vert="horz" wrap="square" lIns="0" tIns="15240" rIns="0" bIns="0" rtlCol="0">
            <a:spAutoFit/>
          </a:bodyPr>
          <a:lstStyle/>
          <a:p>
            <a:pPr marL="12700">
              <a:lnSpc>
                <a:spcPct val="100000"/>
              </a:lnSpc>
              <a:spcBef>
                <a:spcPts val="120"/>
              </a:spcBef>
            </a:pPr>
            <a:r>
              <a:rPr sz="400" spc="-50" dirty="0">
                <a:solidFill>
                  <a:srgbClr val="009900"/>
                </a:solidFill>
                <a:latin typeface="Times New Roman" panose="02020603050405020304" pitchFamily="18" charset="0"/>
                <a:cs typeface="Times New Roman" panose="02020603050405020304" pitchFamily="18" charset="0"/>
              </a:rPr>
              <a:t>A</a:t>
            </a:r>
            <a:endParaRPr sz="400">
              <a:latin typeface="Times New Roman" panose="02020603050405020304" pitchFamily="18" charset="0"/>
              <a:cs typeface="Times New Roman" panose="02020603050405020304" pitchFamily="18" charset="0"/>
            </a:endParaRPr>
          </a:p>
        </p:txBody>
      </p:sp>
      <p:sp>
        <p:nvSpPr>
          <p:cNvPr id="15" name="object 15"/>
          <p:cNvSpPr txBox="1"/>
          <p:nvPr/>
        </p:nvSpPr>
        <p:spPr>
          <a:xfrm>
            <a:off x="4077968" y="13608098"/>
            <a:ext cx="55244" cy="76944"/>
          </a:xfrm>
          <a:prstGeom prst="rect">
            <a:avLst/>
          </a:prstGeom>
        </p:spPr>
        <p:txBody>
          <a:bodyPr vert="horz" wrap="square" lIns="0" tIns="15240" rIns="0" bIns="0" rtlCol="0">
            <a:spAutoFit/>
          </a:bodyPr>
          <a:lstStyle/>
          <a:p>
            <a:pPr marL="12700">
              <a:lnSpc>
                <a:spcPct val="100000"/>
              </a:lnSpc>
              <a:spcBef>
                <a:spcPts val="120"/>
              </a:spcBef>
            </a:pPr>
            <a:r>
              <a:rPr sz="400" spc="-50" dirty="0">
                <a:solidFill>
                  <a:srgbClr val="009900"/>
                </a:solidFill>
                <a:latin typeface="Times New Roman" panose="02020603050405020304" pitchFamily="18" charset="0"/>
                <a:cs typeface="Times New Roman" panose="02020603050405020304" pitchFamily="18" charset="0"/>
              </a:rPr>
              <a:t>B</a:t>
            </a:r>
            <a:endParaRPr sz="400">
              <a:latin typeface="Times New Roman" panose="02020603050405020304" pitchFamily="18" charset="0"/>
              <a:cs typeface="Times New Roman" panose="02020603050405020304" pitchFamily="18" charset="0"/>
            </a:endParaRPr>
          </a:p>
        </p:txBody>
      </p:sp>
      <p:sp>
        <p:nvSpPr>
          <p:cNvPr id="16" name="object 16"/>
          <p:cNvSpPr txBox="1"/>
          <p:nvPr/>
        </p:nvSpPr>
        <p:spPr>
          <a:xfrm>
            <a:off x="323850" y="12643485"/>
            <a:ext cx="4373245" cy="273793"/>
          </a:xfrm>
          <a:prstGeom prst="rect">
            <a:avLst/>
          </a:prstGeom>
          <a:solidFill>
            <a:schemeClr val="accent6"/>
          </a:solidFill>
          <a:ln>
            <a:solidFill>
              <a:schemeClr val="accent6"/>
            </a:solidFill>
          </a:ln>
        </p:spPr>
        <p:txBody>
          <a:bodyPr vert="horz" wrap="square" lIns="0" tIns="19685" rIns="0" bIns="0" rtlCol="0">
            <a:spAutoFit/>
          </a:bodyPr>
          <a:lstStyle/>
          <a:p>
            <a:pPr algn="ctr">
              <a:lnSpc>
                <a:spcPct val="100000"/>
              </a:lnSpc>
              <a:spcBef>
                <a:spcPts val="155"/>
              </a:spcBef>
            </a:pPr>
            <a:r>
              <a:rPr lang="en-US" sz="1650" b="1" spc="300" dirty="0">
                <a:solidFill>
                  <a:schemeClr val="bg1"/>
                </a:solidFill>
                <a:latin typeface="Times New Roman" panose="02020603050405020304" pitchFamily="18" charset="0"/>
                <a:cs typeface="Times New Roman" panose="02020603050405020304" pitchFamily="18" charset="0"/>
              </a:rPr>
              <a:t>Outcomes:</a:t>
            </a:r>
            <a:endParaRPr sz="1650" b="1" spc="300" dirty="0">
              <a:solidFill>
                <a:schemeClr val="bg1"/>
              </a:solidFill>
              <a:latin typeface="Times New Roman" panose="02020603050405020304" pitchFamily="18" charset="0"/>
              <a:cs typeface="Times New Roman" panose="02020603050405020304" pitchFamily="18" charset="0"/>
            </a:endParaRPr>
          </a:p>
        </p:txBody>
      </p:sp>
      <p:sp>
        <p:nvSpPr>
          <p:cNvPr id="19" name="object 19"/>
          <p:cNvSpPr txBox="1"/>
          <p:nvPr/>
        </p:nvSpPr>
        <p:spPr>
          <a:xfrm>
            <a:off x="1258147" y="18886352"/>
            <a:ext cx="276225" cy="112851"/>
          </a:xfrm>
          <a:prstGeom prst="rect">
            <a:avLst/>
          </a:prstGeom>
        </p:spPr>
        <p:txBody>
          <a:bodyPr vert="horz" wrap="square" lIns="0" tIns="12700" rIns="0" bIns="0" rtlCol="0">
            <a:spAutoFit/>
          </a:bodyPr>
          <a:lstStyle/>
          <a:p>
            <a:pPr marL="12700">
              <a:lnSpc>
                <a:spcPct val="100000"/>
              </a:lnSpc>
              <a:spcBef>
                <a:spcPts val="100"/>
              </a:spcBef>
            </a:pPr>
            <a:r>
              <a:rPr sz="650" spc="-50" dirty="0">
                <a:solidFill>
                  <a:srgbClr val="1BACCF"/>
                </a:solidFill>
                <a:latin typeface="Times New Roman" panose="02020603050405020304" pitchFamily="18" charset="0"/>
                <a:cs typeface="Times New Roman" panose="02020603050405020304" pitchFamily="18" charset="0"/>
              </a:rPr>
              <a:t>4</a:t>
            </a:r>
            <a:endParaRPr sz="650" dirty="0">
              <a:latin typeface="Times New Roman" panose="02020603050405020304" pitchFamily="18" charset="0"/>
              <a:cs typeface="Times New Roman" panose="02020603050405020304" pitchFamily="18" charset="0"/>
            </a:endParaRPr>
          </a:p>
        </p:txBody>
      </p:sp>
      <p:sp>
        <p:nvSpPr>
          <p:cNvPr id="20" name="object 20"/>
          <p:cNvSpPr txBox="1"/>
          <p:nvPr/>
        </p:nvSpPr>
        <p:spPr>
          <a:xfrm>
            <a:off x="4907586" y="2938680"/>
            <a:ext cx="4375150" cy="264816"/>
          </a:xfrm>
          <a:prstGeom prst="rect">
            <a:avLst/>
          </a:prstGeom>
          <a:solidFill>
            <a:schemeClr val="accent6"/>
          </a:solidFill>
          <a:ln>
            <a:solidFill>
              <a:schemeClr val="accent6"/>
            </a:solidFill>
          </a:ln>
        </p:spPr>
        <p:txBody>
          <a:bodyPr vert="horz" wrap="square" lIns="0" tIns="18415" rIns="0" bIns="0" rtlCol="0">
            <a:spAutoFit/>
          </a:bodyPr>
          <a:lstStyle/>
          <a:p>
            <a:pPr marL="1010285">
              <a:lnSpc>
                <a:spcPct val="100000"/>
              </a:lnSpc>
              <a:spcBef>
                <a:spcPts val="145"/>
              </a:spcBef>
            </a:pPr>
            <a:r>
              <a:rPr lang="en-IN" sz="1600" b="1" spc="300" dirty="0">
                <a:solidFill>
                  <a:schemeClr val="bg1"/>
                </a:solidFill>
                <a:latin typeface="Times New Roman" panose="02020603050405020304" pitchFamily="18" charset="0"/>
                <a:cs typeface="Times New Roman" panose="02020603050405020304" pitchFamily="18" charset="0"/>
              </a:rPr>
              <a:t>Materials</a:t>
            </a:r>
            <a:r>
              <a:rPr lang="en-US" sz="1600" spc="300" dirty="0">
                <a:solidFill>
                  <a:schemeClr val="bg1"/>
                </a:solidFill>
                <a:latin typeface="Times New Roman" panose="02020603050405020304" pitchFamily="18" charset="0"/>
                <a:cs typeface="Times New Roman" panose="02020603050405020304" pitchFamily="18" charset="0"/>
              </a:rPr>
              <a:t> </a:t>
            </a:r>
            <a:r>
              <a:rPr lang="en-US" sz="1600" spc="300" dirty="0" err="1">
                <a:solidFill>
                  <a:schemeClr val="bg1"/>
                </a:solidFill>
                <a:latin typeface="Times New Roman" panose="02020603050405020304" pitchFamily="18" charset="0"/>
                <a:cs typeface="Times New Roman" panose="02020603050405020304" pitchFamily="18" charset="0"/>
              </a:rPr>
              <a:t>Requried</a:t>
            </a:r>
            <a:r>
              <a:rPr lang="en-US" sz="1600" spc="300" dirty="0">
                <a:solidFill>
                  <a:schemeClr val="bg1"/>
                </a:solidFill>
                <a:latin typeface="Times New Roman" panose="02020603050405020304" pitchFamily="18" charset="0"/>
                <a:cs typeface="Times New Roman" panose="02020603050405020304" pitchFamily="18" charset="0"/>
              </a:rPr>
              <a:t> :</a:t>
            </a:r>
            <a:endParaRPr sz="1600" spc="300" dirty="0">
              <a:solidFill>
                <a:schemeClr val="bg1"/>
              </a:solidFill>
              <a:latin typeface="Times New Roman" panose="02020603050405020304" pitchFamily="18" charset="0"/>
              <a:cs typeface="Times New Roman" panose="02020603050405020304" pitchFamily="18" charset="0"/>
            </a:endParaRPr>
          </a:p>
        </p:txBody>
      </p:sp>
      <p:sp>
        <p:nvSpPr>
          <p:cNvPr id="21" name="object 21"/>
          <p:cNvSpPr txBox="1"/>
          <p:nvPr/>
        </p:nvSpPr>
        <p:spPr>
          <a:xfrm>
            <a:off x="5124450" y="8985250"/>
            <a:ext cx="3993515" cy="456535"/>
          </a:xfrm>
          <a:prstGeom prst="rect">
            <a:avLst/>
          </a:prstGeom>
        </p:spPr>
        <p:txBody>
          <a:bodyPr vert="horz" wrap="square" lIns="0" tIns="12700" rIns="0" bIns="0" rtlCol="0">
            <a:spAutoFit/>
          </a:bodyPr>
          <a:lstStyle/>
          <a:p>
            <a:pPr marL="12700" marR="182245">
              <a:spcBef>
                <a:spcPts val="100"/>
              </a:spcBef>
            </a:pPr>
            <a:endParaRPr lang="en-IN" sz="1400" spc="-114" dirty="0">
              <a:solidFill>
                <a:srgbClr val="44536A"/>
              </a:solidFill>
              <a:latin typeface="Times New Roman" panose="02020603050405020304" pitchFamily="18" charset="0"/>
              <a:cs typeface="Times New Roman" panose="02020603050405020304" pitchFamily="18" charset="0"/>
            </a:endParaRPr>
          </a:p>
          <a:p>
            <a:pPr marL="12700" marR="182245">
              <a:spcBef>
                <a:spcPts val="100"/>
              </a:spcBef>
            </a:pPr>
            <a:endParaRPr lang="en-IN" sz="1400" spc="-114" dirty="0">
              <a:solidFill>
                <a:srgbClr val="44536A"/>
              </a:solidFill>
              <a:latin typeface="Times New Roman" panose="02020603050405020304" pitchFamily="18" charset="0"/>
              <a:cs typeface="Times New Roman" panose="02020603050405020304" pitchFamily="18" charset="0"/>
            </a:endParaRPr>
          </a:p>
        </p:txBody>
      </p:sp>
      <p:sp>
        <p:nvSpPr>
          <p:cNvPr id="23" name="object 23"/>
          <p:cNvSpPr txBox="1"/>
          <p:nvPr/>
        </p:nvSpPr>
        <p:spPr>
          <a:xfrm>
            <a:off x="4907586" y="7842885"/>
            <a:ext cx="4375150" cy="272510"/>
          </a:xfrm>
          <a:prstGeom prst="rect">
            <a:avLst/>
          </a:prstGeom>
          <a:solidFill>
            <a:schemeClr val="accent6"/>
          </a:solidFill>
          <a:ln>
            <a:solidFill>
              <a:schemeClr val="accent6"/>
            </a:solidFill>
          </a:ln>
        </p:spPr>
        <p:txBody>
          <a:bodyPr vert="horz" wrap="square" lIns="0" tIns="18415" rIns="0" bIns="0" rtlCol="0">
            <a:spAutoFit/>
          </a:bodyPr>
          <a:lstStyle/>
          <a:p>
            <a:pPr marL="477520">
              <a:lnSpc>
                <a:spcPct val="100000"/>
              </a:lnSpc>
              <a:spcBef>
                <a:spcPts val="145"/>
              </a:spcBef>
            </a:pPr>
            <a:r>
              <a:rPr lang="en-US" sz="1650" b="1" dirty="0">
                <a:solidFill>
                  <a:srgbClr val="FFFFFF"/>
                </a:solidFill>
                <a:latin typeface="Times New Roman" panose="02020603050405020304" pitchFamily="18" charset="0"/>
                <a:cs typeface="Times New Roman" panose="02020603050405020304" pitchFamily="18" charset="0"/>
              </a:rPr>
              <a:t>Procedure  for  implementation : </a:t>
            </a:r>
            <a:endParaRPr sz="1650" dirty="0">
              <a:latin typeface="Times New Roman" panose="02020603050405020304" pitchFamily="18" charset="0"/>
              <a:cs typeface="Times New Roman" panose="02020603050405020304" pitchFamily="18" charset="0"/>
            </a:endParaRPr>
          </a:p>
        </p:txBody>
      </p:sp>
      <p:sp>
        <p:nvSpPr>
          <p:cNvPr id="24" name="object 24"/>
          <p:cNvSpPr txBox="1"/>
          <p:nvPr/>
        </p:nvSpPr>
        <p:spPr>
          <a:xfrm>
            <a:off x="5048250" y="3270250"/>
            <a:ext cx="3956050" cy="3879215"/>
          </a:xfrm>
          <a:prstGeom prst="rect">
            <a:avLst/>
          </a:prstGeom>
        </p:spPr>
        <p:txBody>
          <a:bodyPr vert="horz" wrap="square" lIns="0" tIns="12065" rIns="0" bIns="0" rtlCol="0">
            <a:noAutofit/>
          </a:bodyPr>
          <a:lstStyle/>
          <a:p>
            <a:pPr algn="l">
              <a:lnSpc>
                <a:spcPct val="160000"/>
              </a:lnSpc>
            </a:pPr>
            <a:r>
              <a:rPr lang="en-IN" sz="1400" b="1" dirty="0">
                <a:latin typeface="Arial" panose="020B0604020202020204" pitchFamily="34" charset="0"/>
                <a:cs typeface="Arial" panose="020B0604020202020204" pitchFamily="34" charset="0"/>
              </a:rPr>
              <a:t>1 Hardware Components</a:t>
            </a:r>
            <a:endParaRPr lang="en-IN" sz="1400" b="1" dirty="0">
              <a:latin typeface="Arial" panose="020B0604020202020204" pitchFamily="34" charset="0"/>
              <a:cs typeface="Arial" panose="020B0604020202020204" pitchFamily="34" charset="0"/>
            </a:endParaRPr>
          </a:p>
          <a:p>
            <a:pPr marL="342900" indent="-342900" algn="l">
              <a:lnSpc>
                <a:spcPct val="160000"/>
              </a:lnSpc>
              <a:buFont typeface="+mj-lt"/>
              <a:buAutoNum type="alphaLcParenR"/>
            </a:pPr>
            <a:r>
              <a:rPr lang="en-US" altLang="en-US" sz="1400" b="0" dirty="0">
                <a:latin typeface="Arial" panose="020B0604020202020204" pitchFamily="34" charset="0"/>
                <a:cs typeface="Arial" panose="020B0604020202020204" pitchFamily="34" charset="0"/>
              </a:rPr>
              <a:t>Microcontroller – Arduino UNO (R3)</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LCD Display – 16×2 LCD</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Energy Meter – 240V AC Single Phase</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IoT Module – ESP8266 Wi-Fi Module</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GSM Module – SIM900</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Relay Modules – AC Relay (for load control)</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AC Loads – Light, Fan, 3-Pin Socket (240V)</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Power Supply – 12V DC Supply</a:t>
            </a:r>
            <a:endParaRPr lang="en-US" altLang="en-US" sz="1400" b="0" dirty="0">
              <a:latin typeface="Arial" panose="020B0604020202020204" pitchFamily="34" charset="0"/>
              <a:cs typeface="Arial" panose="020B0604020202020204" pitchFamily="34" charset="0"/>
            </a:endParaRPr>
          </a:p>
          <a:p>
            <a:pPr indent="0" algn="l">
              <a:lnSpc>
                <a:spcPct val="130000"/>
              </a:lnSpc>
              <a:buFont typeface="Arial" panose="020B0604020202020204" pitchFamily="34" charset="0"/>
              <a:buNone/>
            </a:pPr>
            <a:endParaRPr lang="en-US" altLang="en-US" sz="1400" b="0" dirty="0">
              <a:latin typeface="Arial" panose="020B0604020202020204" pitchFamily="34" charset="0"/>
              <a:cs typeface="Arial" panose="020B0604020202020204" pitchFamily="34" charset="0"/>
            </a:endParaRPr>
          </a:p>
          <a:p>
            <a:pPr algn="l">
              <a:lnSpc>
                <a:spcPct val="130000"/>
              </a:lnSpc>
            </a:pPr>
            <a:r>
              <a:rPr lang="en-IN" sz="1400" b="1" dirty="0">
                <a:latin typeface="Arial" panose="020B0604020202020204" pitchFamily="34" charset="0"/>
                <a:cs typeface="Arial" panose="020B0604020202020204" pitchFamily="34" charset="0"/>
              </a:rPr>
              <a:t>2. Software Components</a:t>
            </a:r>
            <a:endParaRPr lang="en-IN" sz="1400" b="1"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Arduino IDE</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IoT Cloud Server</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Real-Time Monitoring Platform</a:t>
            </a:r>
            <a:endParaRPr lang="en-US" altLang="en-US" sz="1400" b="0" dirty="0">
              <a:latin typeface="Arial" panose="020B0604020202020204" pitchFamily="34" charset="0"/>
              <a:cs typeface="Arial" panose="020B0604020202020204" pitchFamily="34" charset="0"/>
            </a:endParaRPr>
          </a:p>
          <a:p>
            <a:pPr marL="342900" indent="-342900" algn="l">
              <a:lnSpc>
                <a:spcPct val="130000"/>
              </a:lnSpc>
              <a:buFont typeface="+mj-lt"/>
              <a:buAutoNum type="alphaLcParenR"/>
            </a:pPr>
            <a:r>
              <a:rPr lang="en-US" altLang="en-US" sz="1400" b="0" dirty="0">
                <a:latin typeface="Arial" panose="020B0604020202020204" pitchFamily="34" charset="0"/>
                <a:cs typeface="Arial" panose="020B0604020202020204" pitchFamily="34" charset="0"/>
              </a:rPr>
              <a:t>Communication Protocols (Wi-Fi / GSM)</a:t>
            </a:r>
            <a:endParaRPr lang="en-US" altLang="en-US" sz="1400" b="0" dirty="0">
              <a:latin typeface="Arial" panose="020B0604020202020204" pitchFamily="34" charset="0"/>
              <a:cs typeface="Arial" panose="020B0604020202020204" pitchFamily="34" charset="0"/>
            </a:endParaRPr>
          </a:p>
          <a:p>
            <a:endParaRPr lang="en-US" altLang="en-US" sz="1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
        <p:nvSpPr>
          <p:cNvPr id="25" name="object 25"/>
          <p:cNvSpPr txBox="1"/>
          <p:nvPr/>
        </p:nvSpPr>
        <p:spPr>
          <a:xfrm>
            <a:off x="4907586" y="13684885"/>
            <a:ext cx="4375150" cy="272510"/>
          </a:xfrm>
          <a:prstGeom prst="rect">
            <a:avLst/>
          </a:prstGeom>
          <a:solidFill>
            <a:schemeClr val="accent6"/>
          </a:solidFill>
          <a:ln>
            <a:solidFill>
              <a:schemeClr val="accent6"/>
            </a:solidFill>
          </a:ln>
        </p:spPr>
        <p:txBody>
          <a:bodyPr vert="horz" wrap="square" lIns="0" tIns="18415" rIns="0" bIns="0" rtlCol="0">
            <a:spAutoFit/>
          </a:bodyPr>
          <a:lstStyle/>
          <a:p>
            <a:pPr marL="1214755">
              <a:lnSpc>
                <a:spcPct val="100000"/>
              </a:lnSpc>
              <a:spcBef>
                <a:spcPts val="145"/>
              </a:spcBef>
            </a:pPr>
            <a:r>
              <a:rPr lang="en-US" sz="1650" spc="300" dirty="0">
                <a:solidFill>
                  <a:schemeClr val="bg1"/>
                </a:solidFill>
                <a:latin typeface="Times New Roman" panose="02020603050405020304" pitchFamily="18" charset="0"/>
                <a:cs typeface="Times New Roman" panose="02020603050405020304" pitchFamily="18" charset="0"/>
              </a:rPr>
              <a:t>Before and After: </a:t>
            </a:r>
            <a:endParaRPr sz="1650" spc="300" dirty="0">
              <a:solidFill>
                <a:schemeClr val="bg1"/>
              </a:solidFill>
              <a:latin typeface="Times New Roman" panose="02020603050405020304" pitchFamily="18" charset="0"/>
              <a:cs typeface="Times New Roman" panose="02020603050405020304" pitchFamily="18" charset="0"/>
            </a:endParaRPr>
          </a:p>
        </p:txBody>
      </p:sp>
      <p:sp>
        <p:nvSpPr>
          <p:cNvPr id="27" name="object 27"/>
          <p:cNvSpPr txBox="1"/>
          <p:nvPr/>
        </p:nvSpPr>
        <p:spPr>
          <a:xfrm>
            <a:off x="400050" y="13023850"/>
            <a:ext cx="4020820" cy="3460115"/>
          </a:xfrm>
          <a:prstGeom prst="rect">
            <a:avLst/>
          </a:prstGeom>
        </p:spPr>
        <p:txBody>
          <a:bodyPr vert="horz" wrap="square" lIns="0" tIns="13335"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pPr>
            <a:endParaRPr lang="en-US" altLang="en-US" sz="1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400" b="1" dirty="0">
                <a:latin typeface="Arial" panose="020B0604020202020204" pitchFamily="34" charset="0"/>
                <a:cs typeface="Arial" panose="020B0604020202020204" pitchFamily="34" charset="0"/>
              </a:rPr>
              <a:t>Remote Load Control –</a:t>
            </a:r>
            <a:r>
              <a:rPr lang="en-US" altLang="en-US" sz="1400" dirty="0">
                <a:latin typeface="Arial" panose="020B0604020202020204" pitchFamily="34" charset="0"/>
                <a:cs typeface="Arial" panose="020B0604020202020204" pitchFamily="34" charset="0"/>
              </a:rPr>
              <a:t> Electrical devices can be controlled remotely through IoT and GSM communication.</a:t>
            </a:r>
            <a:endParaRPr lang="en-US" altLang="en-US" sz="1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400" b="1" dirty="0">
                <a:latin typeface="Arial" panose="020B0604020202020204" pitchFamily="34" charset="0"/>
                <a:cs typeface="Arial" panose="020B0604020202020204" pitchFamily="34" charset="0"/>
              </a:rPr>
              <a:t>Real-Time Energy Monitoring –</a:t>
            </a:r>
            <a:r>
              <a:rPr lang="en-US" altLang="en-US" sz="1400" dirty="0">
                <a:latin typeface="Arial" panose="020B0604020202020204" pitchFamily="34" charset="0"/>
                <a:cs typeface="Arial" panose="020B0604020202020204" pitchFamily="34" charset="0"/>
              </a:rPr>
              <a:t> Voltage, current, and power usage can be continuously monitored through cloud platforms.</a:t>
            </a:r>
            <a:endParaRPr lang="en-US" altLang="en-US" sz="1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400" b="1"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400" b="1" dirty="0">
                <a:latin typeface="Arial" panose="020B0604020202020204" pitchFamily="34" charset="0"/>
                <a:cs typeface="Arial" panose="020B0604020202020204" pitchFamily="34" charset="0"/>
              </a:rPr>
              <a:t>Reduced Energy Wastage –</a:t>
            </a:r>
            <a:r>
              <a:rPr lang="en-US" altLang="en-US" sz="1400" dirty="0">
                <a:latin typeface="Arial" panose="020B0604020202020204" pitchFamily="34" charset="0"/>
                <a:cs typeface="Arial" panose="020B0604020202020204" pitchFamily="34" charset="0"/>
              </a:rPr>
              <a:t> Smart load management helps minimize power loss and improve system efficiency.</a:t>
            </a:r>
            <a:endParaRPr lang="en-US" altLang="en-US" sz="1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400" b="1"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400" b="1" dirty="0">
                <a:latin typeface="Arial" panose="020B0604020202020204" pitchFamily="34" charset="0"/>
                <a:cs typeface="Arial" panose="020B0604020202020204" pitchFamily="34" charset="0"/>
              </a:rPr>
              <a:t>Reliable System Operation –</a:t>
            </a:r>
            <a:r>
              <a:rPr lang="en-US" altLang="en-US" sz="1400" dirty="0">
                <a:latin typeface="Arial" panose="020B0604020202020204" pitchFamily="34" charset="0"/>
                <a:cs typeface="Arial" panose="020B0604020202020204" pitchFamily="34" charset="0"/>
              </a:rPr>
              <a:t> IoT connectivity ensures continuous monitoring and quick response to abnormal conditions.</a:t>
            </a:r>
            <a:endParaRPr lang="en-US" altLang="en-US" sz="1400" dirty="0">
              <a:latin typeface="Arial" panose="020B0604020202020204" pitchFamily="34" charset="0"/>
              <a:cs typeface="Arial" panose="020B0604020202020204" pitchFamily="34" charset="0"/>
            </a:endParaRPr>
          </a:p>
        </p:txBody>
      </p:sp>
      <p:sp>
        <p:nvSpPr>
          <p:cNvPr id="29" name="object 29"/>
          <p:cNvSpPr txBox="1"/>
          <p:nvPr/>
        </p:nvSpPr>
        <p:spPr>
          <a:xfrm>
            <a:off x="9507437" y="2938680"/>
            <a:ext cx="4376420" cy="272510"/>
          </a:xfrm>
          <a:prstGeom prst="rect">
            <a:avLst/>
          </a:prstGeom>
          <a:solidFill>
            <a:schemeClr val="accent6"/>
          </a:solidFill>
          <a:ln>
            <a:solidFill>
              <a:schemeClr val="accent6"/>
            </a:solidFill>
          </a:ln>
        </p:spPr>
        <p:txBody>
          <a:bodyPr vert="horz" wrap="square" lIns="0" tIns="18415" rIns="0" bIns="0" rtlCol="0">
            <a:spAutoFit/>
          </a:bodyPr>
          <a:lstStyle/>
          <a:p>
            <a:pPr marL="1066165">
              <a:lnSpc>
                <a:spcPct val="100000"/>
              </a:lnSpc>
              <a:spcBef>
                <a:spcPts val="145"/>
              </a:spcBef>
            </a:pPr>
            <a:r>
              <a:rPr lang="en-US" sz="1650" b="1" spc="-165" dirty="0">
                <a:solidFill>
                  <a:srgbClr val="FFFFFF"/>
                </a:solidFill>
                <a:latin typeface="Times New Roman" panose="02020603050405020304" pitchFamily="18" charset="0"/>
                <a:cs typeface="Times New Roman" panose="02020603050405020304" pitchFamily="18" charset="0"/>
              </a:rPr>
              <a:t>          </a:t>
            </a:r>
            <a:r>
              <a:rPr sz="1650" b="1" spc="-165" dirty="0">
                <a:solidFill>
                  <a:srgbClr val="FFFFFF"/>
                </a:solidFill>
                <a:latin typeface="Times New Roman" panose="02020603050405020304" pitchFamily="18" charset="0"/>
                <a:cs typeface="Times New Roman" panose="02020603050405020304" pitchFamily="18" charset="0"/>
              </a:rPr>
              <a:t>Tables</a:t>
            </a:r>
            <a:r>
              <a:rPr sz="1650" b="1" spc="-50" dirty="0">
                <a:solidFill>
                  <a:srgbClr val="FFFFFF"/>
                </a:solidFill>
                <a:latin typeface="Times New Roman" panose="02020603050405020304" pitchFamily="18" charset="0"/>
                <a:cs typeface="Times New Roman" panose="02020603050405020304" pitchFamily="18" charset="0"/>
              </a:rPr>
              <a:t> </a:t>
            </a:r>
            <a:r>
              <a:rPr sz="1650" b="1" spc="-190" dirty="0">
                <a:solidFill>
                  <a:srgbClr val="FFFFFF"/>
                </a:solidFill>
                <a:latin typeface="Times New Roman" panose="02020603050405020304" pitchFamily="18" charset="0"/>
                <a:cs typeface="Times New Roman" panose="02020603050405020304" pitchFamily="18" charset="0"/>
              </a:rPr>
              <a:t>&amp;</a:t>
            </a:r>
            <a:r>
              <a:rPr sz="1650" b="1" spc="-55" dirty="0">
                <a:solidFill>
                  <a:srgbClr val="FFFFFF"/>
                </a:solidFill>
                <a:latin typeface="Times New Roman" panose="02020603050405020304" pitchFamily="18" charset="0"/>
                <a:cs typeface="Times New Roman" panose="02020603050405020304" pitchFamily="18" charset="0"/>
              </a:rPr>
              <a:t> </a:t>
            </a:r>
            <a:r>
              <a:rPr sz="1650" b="1" spc="-10" dirty="0">
                <a:solidFill>
                  <a:srgbClr val="FFFFFF"/>
                </a:solidFill>
                <a:latin typeface="Times New Roman" panose="02020603050405020304" pitchFamily="18" charset="0"/>
                <a:cs typeface="Times New Roman" panose="02020603050405020304" pitchFamily="18" charset="0"/>
              </a:rPr>
              <a:t>Graphs</a:t>
            </a:r>
            <a:endParaRPr sz="1650" dirty="0">
              <a:latin typeface="Times New Roman" panose="02020603050405020304" pitchFamily="18" charset="0"/>
              <a:cs typeface="Times New Roman" panose="02020603050405020304" pitchFamily="18" charset="0"/>
            </a:endParaRPr>
          </a:p>
        </p:txBody>
      </p:sp>
      <p:sp>
        <p:nvSpPr>
          <p:cNvPr id="30" name="object 30"/>
          <p:cNvSpPr txBox="1"/>
          <p:nvPr/>
        </p:nvSpPr>
        <p:spPr>
          <a:xfrm>
            <a:off x="9544050" y="3238500"/>
            <a:ext cx="4024630" cy="1356360"/>
          </a:xfrm>
          <a:prstGeom prst="rect">
            <a:avLst/>
          </a:prstGeom>
        </p:spPr>
        <p:txBody>
          <a:bodyPr vert="horz" wrap="square" lIns="0" tIns="12065" rIns="0" bIns="0" rtlCol="0">
            <a:noAutofit/>
          </a:bodyPr>
          <a:lstStyle/>
          <a:p>
            <a:pPr marL="12700" marR="5080" algn="just">
              <a:lnSpc>
                <a:spcPct val="102000"/>
              </a:lnSpc>
              <a:spcBef>
                <a:spcPts val="95"/>
              </a:spcBef>
            </a:pPr>
            <a:r>
              <a:rPr lang="en-US" altLang="en-US" sz="1400" dirty="0">
                <a:latin typeface="Arial" panose="020B0604020202020204" pitchFamily="34" charset="0"/>
                <a:cs typeface="Arial" panose="020B0604020202020204" pitchFamily="34" charset="0"/>
              </a:rPr>
              <a:t>This graph and the Table shows the real-time energy units consumed using the proposed</a:t>
            </a:r>
            <a:r>
              <a:rPr lang="en-US" altLang="en-US" sz="1400" b="1" dirty="0">
                <a:latin typeface="Arial" panose="020B0604020202020204" pitchFamily="34" charset="0"/>
                <a:cs typeface="Arial" panose="020B0604020202020204" pitchFamily="34" charset="0"/>
              </a:rPr>
              <a:t> IoT-Based Energy Monitoring and Remote Load Control for Sustainable Industry.</a:t>
            </a:r>
            <a:r>
              <a:rPr lang="en-US" altLang="en-US" sz="1400" dirty="0">
                <a:latin typeface="Arial" panose="020B0604020202020204" pitchFamily="34" charset="0"/>
                <a:cs typeface="Arial" panose="020B0604020202020204" pitchFamily="34" charset="0"/>
              </a:rPr>
              <a:t> It helps monitor power usage over time and detect changes in electricity consumption. Overall, the system enables efficient and reliable energy management</a:t>
            </a:r>
            <a:r>
              <a:rPr lang="en-US" altLang="en-US" sz="1200" dirty="0">
                <a:latin typeface="Arial" panose="020B0604020202020204" pitchFamily="34" charset="0"/>
                <a:cs typeface="Arial" panose="020B0604020202020204" pitchFamily="34" charset="0"/>
              </a:rPr>
              <a:t>.</a:t>
            </a:r>
            <a:endParaRPr lang="en-US" altLang="en-US" sz="1200" dirty="0">
              <a:latin typeface="Arial" panose="020B0604020202020204" pitchFamily="34" charset="0"/>
              <a:cs typeface="Arial" panose="020B0604020202020204" pitchFamily="34" charset="0"/>
            </a:endParaRPr>
          </a:p>
        </p:txBody>
      </p:sp>
      <p:sp>
        <p:nvSpPr>
          <p:cNvPr id="33" name="object 33"/>
          <p:cNvSpPr txBox="1"/>
          <p:nvPr/>
        </p:nvSpPr>
        <p:spPr>
          <a:xfrm>
            <a:off x="5124450" y="17214850"/>
            <a:ext cx="4015104" cy="189539"/>
          </a:xfrm>
          <a:prstGeom prst="rect">
            <a:avLst/>
          </a:prstGeom>
        </p:spPr>
        <p:txBody>
          <a:bodyPr vert="horz" wrap="square" lIns="0" tIns="12065" rIns="0" bIns="0" rtlCol="0">
            <a:spAutoFit/>
          </a:bodyPr>
          <a:lstStyle/>
          <a:p>
            <a:pPr marL="12700" marR="5080">
              <a:lnSpc>
                <a:spcPct val="102000"/>
              </a:lnSpc>
              <a:spcBef>
                <a:spcPts val="95"/>
              </a:spcBef>
            </a:pPr>
            <a:r>
              <a:rPr sz="1200" spc="-20" dirty="0">
                <a:solidFill>
                  <a:srgbClr val="44536A"/>
                </a:solidFill>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35" name="object 35"/>
          <p:cNvSpPr txBox="1"/>
          <p:nvPr/>
        </p:nvSpPr>
        <p:spPr>
          <a:xfrm>
            <a:off x="9430385" y="7842885"/>
            <a:ext cx="4375150" cy="272510"/>
          </a:xfrm>
          <a:prstGeom prst="rect">
            <a:avLst/>
          </a:prstGeom>
          <a:solidFill>
            <a:schemeClr val="accent6"/>
          </a:solidFill>
          <a:ln>
            <a:solidFill>
              <a:schemeClr val="accent6"/>
            </a:solidFill>
          </a:ln>
        </p:spPr>
        <p:txBody>
          <a:bodyPr vert="horz" wrap="square" lIns="0" tIns="18415" rIns="0" bIns="0" rtlCol="0">
            <a:spAutoFit/>
          </a:bodyPr>
          <a:lstStyle/>
          <a:p>
            <a:pPr algn="ctr">
              <a:lnSpc>
                <a:spcPct val="100000"/>
              </a:lnSpc>
              <a:spcBef>
                <a:spcPts val="145"/>
              </a:spcBef>
            </a:pPr>
            <a:r>
              <a:rPr lang="en-US" sz="1650" spc="300" dirty="0">
                <a:solidFill>
                  <a:schemeClr val="bg1"/>
                </a:solidFill>
                <a:latin typeface="Times New Roman" panose="02020603050405020304" pitchFamily="18" charset="0"/>
                <a:cs typeface="Times New Roman" panose="02020603050405020304" pitchFamily="18" charset="0"/>
              </a:rPr>
              <a:t>Reference:</a:t>
            </a:r>
            <a:r>
              <a:rPr lang="en-US" sz="1650" dirty="0">
                <a:latin typeface="Times New Roman" panose="02020603050405020304" pitchFamily="18" charset="0"/>
                <a:cs typeface="Times New Roman" panose="02020603050405020304" pitchFamily="18" charset="0"/>
              </a:rPr>
              <a:t> </a:t>
            </a:r>
            <a:endParaRPr sz="1650" dirty="0">
              <a:latin typeface="Times New Roman" panose="02020603050405020304" pitchFamily="18" charset="0"/>
              <a:cs typeface="Times New Roman" panose="02020603050405020304" pitchFamily="18" charset="0"/>
            </a:endParaRPr>
          </a:p>
        </p:txBody>
      </p:sp>
      <p:sp>
        <p:nvSpPr>
          <p:cNvPr id="36" name="object 36"/>
          <p:cNvSpPr txBox="1"/>
          <p:nvPr/>
        </p:nvSpPr>
        <p:spPr>
          <a:xfrm>
            <a:off x="9511486" y="10814050"/>
            <a:ext cx="4375150" cy="273793"/>
          </a:xfrm>
          <a:prstGeom prst="rect">
            <a:avLst/>
          </a:prstGeom>
          <a:solidFill>
            <a:schemeClr val="accent6"/>
          </a:solidFill>
          <a:ln>
            <a:solidFill>
              <a:schemeClr val="accent6"/>
            </a:solidFill>
          </a:ln>
        </p:spPr>
        <p:txBody>
          <a:bodyPr vert="horz" wrap="square" lIns="0" tIns="19685" rIns="0" bIns="0" rtlCol="0">
            <a:spAutoFit/>
          </a:bodyPr>
          <a:lstStyle/>
          <a:p>
            <a:pPr algn="ctr">
              <a:lnSpc>
                <a:spcPct val="100000"/>
              </a:lnSpc>
              <a:spcBef>
                <a:spcPts val="155"/>
              </a:spcBef>
            </a:pPr>
            <a:r>
              <a:rPr sz="1650" b="1" spc="300" dirty="0">
                <a:solidFill>
                  <a:srgbClr val="FFFFFF"/>
                </a:solidFill>
                <a:latin typeface="Times New Roman" panose="02020603050405020304" pitchFamily="18" charset="0"/>
                <a:cs typeface="Times New Roman" panose="02020603050405020304" pitchFamily="18" charset="0"/>
              </a:rPr>
              <a:t>Acknowledgements</a:t>
            </a:r>
            <a:r>
              <a:rPr lang="en-US" sz="1650" b="1" spc="300" dirty="0">
                <a:solidFill>
                  <a:srgbClr val="FFFFFF"/>
                </a:solidFill>
                <a:latin typeface="Times New Roman" panose="02020603050405020304" pitchFamily="18" charset="0"/>
                <a:cs typeface="Times New Roman" panose="02020603050405020304" pitchFamily="18" charset="0"/>
              </a:rPr>
              <a:t>:</a:t>
            </a:r>
            <a:endParaRPr sz="1650" spc="300" dirty="0">
              <a:latin typeface="Times New Roman" panose="02020603050405020304" pitchFamily="18" charset="0"/>
              <a:cs typeface="Times New Roman" panose="02020603050405020304" pitchFamily="18" charset="0"/>
            </a:endParaRPr>
          </a:p>
        </p:txBody>
      </p:sp>
      <p:sp>
        <p:nvSpPr>
          <p:cNvPr id="37" name="object 37"/>
          <p:cNvSpPr txBox="1"/>
          <p:nvPr/>
        </p:nvSpPr>
        <p:spPr>
          <a:xfrm>
            <a:off x="9543871" y="16681555"/>
            <a:ext cx="4375150" cy="274434"/>
          </a:xfrm>
          <a:prstGeom prst="rect">
            <a:avLst/>
          </a:prstGeom>
          <a:solidFill>
            <a:schemeClr val="accent6"/>
          </a:solidFill>
          <a:ln>
            <a:solidFill>
              <a:schemeClr val="accent6"/>
            </a:solidFill>
          </a:ln>
        </p:spPr>
        <p:txBody>
          <a:bodyPr vert="horz" wrap="square" lIns="0" tIns="12700" rIns="0" bIns="0" rtlCol="0">
            <a:spAutoFit/>
          </a:bodyPr>
          <a:lstStyle/>
          <a:p>
            <a:pPr marL="635" algn="ctr">
              <a:lnSpc>
                <a:spcPct val="100000"/>
              </a:lnSpc>
              <a:spcBef>
                <a:spcPts val="100"/>
              </a:spcBef>
            </a:pPr>
            <a:r>
              <a:rPr sz="1700" b="1" dirty="0">
                <a:solidFill>
                  <a:srgbClr val="FFFFFF"/>
                </a:solidFill>
                <a:latin typeface="Times New Roman" panose="02020603050405020304" pitchFamily="18" charset="0"/>
                <a:cs typeface="Times New Roman" panose="02020603050405020304" pitchFamily="18" charset="0"/>
              </a:rPr>
              <a:t>Contact Information</a:t>
            </a:r>
            <a:r>
              <a:rPr lang="en-US" sz="1700" b="1" dirty="0">
                <a:solidFill>
                  <a:srgbClr val="FFFFFF"/>
                </a:solidFill>
                <a:latin typeface="Times New Roman" panose="02020603050405020304" pitchFamily="18" charset="0"/>
                <a:cs typeface="Times New Roman" panose="02020603050405020304" pitchFamily="18" charset="0"/>
              </a:rPr>
              <a:t>:</a:t>
            </a:r>
            <a:endParaRPr sz="1700" dirty="0">
              <a:latin typeface="Times New Roman" panose="02020603050405020304" pitchFamily="18" charset="0"/>
              <a:cs typeface="Times New Roman" panose="02020603050405020304" pitchFamily="18" charset="0"/>
            </a:endParaRPr>
          </a:p>
        </p:txBody>
      </p:sp>
      <p:sp>
        <p:nvSpPr>
          <p:cNvPr id="38" name="object 38"/>
          <p:cNvSpPr txBox="1"/>
          <p:nvPr/>
        </p:nvSpPr>
        <p:spPr>
          <a:xfrm>
            <a:off x="9675347" y="9099522"/>
            <a:ext cx="1588135" cy="200055"/>
          </a:xfrm>
          <a:prstGeom prst="rect">
            <a:avLst/>
          </a:prstGeom>
        </p:spPr>
        <p:txBody>
          <a:bodyPr vert="horz" wrap="square" lIns="0" tIns="15240" rIns="0" bIns="0" rtlCol="0">
            <a:spAutoFit/>
          </a:bodyPr>
          <a:lstStyle/>
          <a:p>
            <a:pPr marL="12700">
              <a:lnSpc>
                <a:spcPct val="100000"/>
              </a:lnSpc>
              <a:spcBef>
                <a:spcPts val="120"/>
              </a:spcBef>
            </a:pPr>
            <a:r>
              <a:rPr sz="1200" spc="-65" dirty="0">
                <a:solidFill>
                  <a:srgbClr val="44536A"/>
                </a:solidFill>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39" name="object 39"/>
          <p:cNvSpPr txBox="1"/>
          <p:nvPr/>
        </p:nvSpPr>
        <p:spPr>
          <a:xfrm>
            <a:off x="9561830" y="11281410"/>
            <a:ext cx="4135903" cy="3261995"/>
          </a:xfrm>
          <a:prstGeom prst="rect">
            <a:avLst/>
          </a:prstGeom>
        </p:spPr>
        <p:txBody>
          <a:bodyPr vert="horz" wrap="square" lIns="0" tIns="15240" rIns="0" bIns="0" rtlCol="0">
            <a:spAutoFit/>
          </a:bodyPr>
          <a:lstStyle/>
          <a:p>
            <a:pPr algn="l"/>
            <a:r>
              <a:rPr lang="en-US" sz="1400" dirty="0"/>
              <a:t>I would like to express my sincere gratitude to my mentors, faculty members, and teammates for their constant guidance and support throughout the development of this project, </a:t>
            </a:r>
            <a:r>
              <a:rPr lang="en-US" sz="1400" dirty="0">
                <a:sym typeface="+mn-ea"/>
              </a:rPr>
              <a:t> </a:t>
            </a:r>
            <a:r>
              <a:rPr lang="en-US" sz="1400" b="1" i="1" dirty="0">
                <a:sym typeface="+mn-ea"/>
              </a:rPr>
              <a:t>“</a:t>
            </a:r>
            <a:r>
              <a:rPr lang="en-US" altLang="en-US" sz="1400" b="1" i="1" u="none" dirty="0">
                <a:latin typeface="Times New Roman" panose="02020603050405020304" pitchFamily="18" charset="0"/>
                <a:ea typeface="Microsoft JhengHei" panose="020B0604030504040204" pitchFamily="34" charset="-120"/>
                <a:sym typeface="+mn-ea"/>
              </a:rPr>
              <a:t>IoT Based Energy Monitoring and Remote Load Control For Sustainable Industry</a:t>
            </a:r>
            <a:r>
              <a:rPr lang="en-US" sz="1400" b="1" i="1" dirty="0">
                <a:sym typeface="+mn-ea"/>
              </a:rPr>
              <a:t>.”</a:t>
            </a:r>
            <a:r>
              <a:rPr lang="en-US" sz="1400" b="1" dirty="0">
                <a:sym typeface="+mn-ea"/>
              </a:rPr>
              <a:t> </a:t>
            </a:r>
            <a:r>
              <a:rPr lang="en-US" sz="1400" dirty="0"/>
              <a:t>Their valuable insights and encouragement have been instrumental in shaping the ideas and execution of this work.</a:t>
            </a:r>
            <a:endParaRPr lang="en-US" sz="1400" dirty="0"/>
          </a:p>
          <a:p>
            <a:r>
              <a:rPr lang="en-US" sz="1400" dirty="0"/>
              <a:t>I also acknowledge the resources, research papers, and online platforms that provided the necessary technical knowledge on quantum computing, IoT, and smart traffic management. Finally, I am thankful to my family and friends for their motivation and continuous support during this project.</a:t>
            </a:r>
            <a:endParaRPr lang="en-US" sz="1400" dirty="0"/>
          </a:p>
          <a:p>
            <a:pPr marL="12700">
              <a:lnSpc>
                <a:spcPct val="100000"/>
              </a:lnSpc>
              <a:spcBef>
                <a:spcPts val="120"/>
              </a:spcBef>
            </a:pPr>
            <a:r>
              <a:rPr sz="1400" spc="-55" dirty="0">
                <a:solidFill>
                  <a:srgbClr val="44536A"/>
                </a:solidFill>
                <a:latin typeface="Times New Roman" panose="02020603050405020304" pitchFamily="18" charset="0"/>
                <a:cs typeface="Times New Roman" panose="02020603050405020304" pitchFamily="18" charset="0"/>
              </a:rPr>
              <a:t>.</a:t>
            </a:r>
            <a:endParaRPr sz="1400" dirty="0">
              <a:latin typeface="Times New Roman" panose="02020603050405020304" pitchFamily="18" charset="0"/>
              <a:cs typeface="Times New Roman" panose="02020603050405020304" pitchFamily="18" charset="0"/>
            </a:endParaRPr>
          </a:p>
        </p:txBody>
      </p:sp>
      <p:graphicFrame>
        <p:nvGraphicFramePr>
          <p:cNvPr id="40" name="object 40"/>
          <p:cNvGraphicFramePr>
            <a:graphicFrameLocks noGrp="1"/>
          </p:cNvGraphicFramePr>
          <p:nvPr>
            <p:custDataLst>
              <p:tags r:id="rId1"/>
            </p:custDataLst>
          </p:nvPr>
        </p:nvGraphicFramePr>
        <p:xfrm>
          <a:off x="9544050" y="17138650"/>
          <a:ext cx="4629150" cy="2505710"/>
        </p:xfrm>
        <a:graphic>
          <a:graphicData uri="http://schemas.openxmlformats.org/drawingml/2006/table">
            <a:tbl>
              <a:tblPr firstRow="1" bandRow="1">
                <a:tableStyleId>{2D5ABB26-0587-4C30-8999-92F81FD0307C}</a:tableStyleId>
              </a:tblPr>
              <a:tblGrid>
                <a:gridCol w="1443990"/>
                <a:gridCol w="3185160"/>
              </a:tblGrid>
              <a:tr h="1433195">
                <a:tc gridSpan="2">
                  <a:txBody>
                    <a:bodyPr/>
                    <a:lstStyle/>
                    <a:p>
                      <a:pPr marL="31750">
                        <a:lnSpc>
                          <a:spcPts val="2050"/>
                        </a:lnSpc>
                      </a:pPr>
                      <a:r>
                        <a:rPr lang="en-US" sz="1850" b="1" u="sng" dirty="0">
                          <a:solidFill>
                            <a:srgbClr val="44536A"/>
                          </a:solidFill>
                          <a:latin typeface="Arial" panose="020B0604020202020204"/>
                          <a:cs typeface="Arial" panose="020B0604020202020204"/>
                        </a:rPr>
                        <a:t>Authors :</a:t>
                      </a:r>
                      <a:endParaRPr lang="en-US" sz="1850" b="1" u="sng" dirty="0">
                        <a:solidFill>
                          <a:srgbClr val="44536A"/>
                        </a:solidFill>
                        <a:latin typeface="Arial" panose="020B0604020202020204"/>
                        <a:cs typeface="Arial" panose="020B0604020202020204"/>
                      </a:endParaRPr>
                    </a:p>
                    <a:p>
                      <a:pPr marL="31750">
                        <a:lnSpc>
                          <a:spcPts val="2050"/>
                        </a:lnSpc>
                      </a:pPr>
                      <a:endParaRPr lang="en-US" sz="1850" b="1" u="sng" dirty="0">
                        <a:solidFill>
                          <a:srgbClr val="44536A"/>
                        </a:solidFill>
                        <a:latin typeface="Arial" panose="020B0604020202020204"/>
                        <a:cs typeface="Arial" panose="020B0604020202020204"/>
                      </a:endParaRPr>
                    </a:p>
                    <a:p>
                      <a:pPr marL="31750">
                        <a:lnSpc>
                          <a:spcPts val="2050"/>
                        </a:lnSpc>
                      </a:pPr>
                      <a:r>
                        <a:rPr lang="en-US" sz="1850" b="0" dirty="0">
                          <a:solidFill>
                            <a:srgbClr val="44536A"/>
                          </a:solidFill>
                          <a:latin typeface="Arial" panose="020B0604020202020204"/>
                          <a:cs typeface="Arial" panose="020B0604020202020204"/>
                        </a:rPr>
                        <a:t>Dr.Anand Babu T, S.Santhosh, Y.Anusha, M.Naveen, P.Bhanu Sai Teja.</a:t>
                      </a:r>
                      <a:r>
                        <a:rPr lang="en-US" sz="1850" b="1" dirty="0">
                          <a:solidFill>
                            <a:srgbClr val="44536A"/>
                          </a:solidFill>
                          <a:latin typeface="Arial" panose="020B0604020202020204"/>
                          <a:cs typeface="Arial" panose="020B0604020202020204"/>
                        </a:rPr>
                        <a:t> </a:t>
                      </a:r>
                      <a:endParaRPr lang="en-US" sz="1850" b="1" dirty="0">
                        <a:solidFill>
                          <a:srgbClr val="44536A"/>
                        </a:solidFill>
                        <a:latin typeface="Arial" panose="020B0604020202020204"/>
                        <a:cs typeface="Arial" panose="020B0604020202020204"/>
                      </a:endParaRPr>
                    </a:p>
                    <a:p>
                      <a:pPr marL="31750">
                        <a:lnSpc>
                          <a:spcPts val="2050"/>
                        </a:lnSpc>
                      </a:pPr>
                      <a:endParaRPr sz="1850" b="1" dirty="0">
                        <a:solidFill>
                          <a:srgbClr val="44536A"/>
                        </a:solidFill>
                        <a:latin typeface="Arial" panose="020B0604020202020204"/>
                        <a:cs typeface="Arial" panose="020B0604020202020204"/>
                      </a:endParaRPr>
                    </a:p>
                    <a:p>
                      <a:pPr marL="31750">
                        <a:lnSpc>
                          <a:spcPts val="2050"/>
                        </a:lnSpc>
                      </a:pPr>
                      <a:r>
                        <a:rPr sz="1850" b="1" u="sng" dirty="0">
                          <a:solidFill>
                            <a:srgbClr val="44536A"/>
                          </a:solidFill>
                          <a:latin typeface="Arial" panose="020B0604020202020204"/>
                          <a:cs typeface="Arial" panose="020B0604020202020204"/>
                        </a:rPr>
                        <a:t>Corresponding</a:t>
                      </a:r>
                      <a:r>
                        <a:rPr sz="1850" b="1" u="sng" spc="30" dirty="0">
                          <a:solidFill>
                            <a:srgbClr val="44536A"/>
                          </a:solidFill>
                          <a:latin typeface="Arial" panose="020B0604020202020204"/>
                          <a:cs typeface="Arial" panose="020B0604020202020204"/>
                        </a:rPr>
                        <a:t> </a:t>
                      </a:r>
                      <a:r>
                        <a:rPr lang="en-US" sz="1850" b="1" u="sng" spc="30" dirty="0">
                          <a:solidFill>
                            <a:srgbClr val="44536A"/>
                          </a:solidFill>
                          <a:latin typeface="Arial" panose="020B0604020202020204"/>
                          <a:cs typeface="Arial" panose="020B0604020202020204"/>
                        </a:rPr>
                        <a:t>A</a:t>
                      </a:r>
                      <a:r>
                        <a:rPr sz="1850" b="1" u="sng" dirty="0">
                          <a:solidFill>
                            <a:srgbClr val="44536A"/>
                          </a:solidFill>
                          <a:latin typeface="Arial" panose="020B0604020202020204"/>
                          <a:cs typeface="Arial" panose="020B0604020202020204"/>
                        </a:rPr>
                        <a:t>uthor</a:t>
                      </a:r>
                      <a:r>
                        <a:rPr lang="en-US" sz="1850" b="1" u="sng" dirty="0">
                          <a:solidFill>
                            <a:srgbClr val="44536A"/>
                          </a:solidFill>
                          <a:latin typeface="Arial" panose="020B0604020202020204"/>
                          <a:cs typeface="Arial" panose="020B0604020202020204"/>
                        </a:rPr>
                        <a:t> :</a:t>
                      </a:r>
                      <a:endParaRPr lang="en-US" sz="1850" b="1" u="sng" dirty="0">
                        <a:solidFill>
                          <a:srgbClr val="44536A"/>
                        </a:solidFill>
                        <a:latin typeface="Arial" panose="020B0604020202020204"/>
                        <a:cs typeface="Arial" panose="020B0604020202020204"/>
                      </a:endParaRPr>
                    </a:p>
                  </a:txBody>
                  <a:tcPr marL="0" marR="0" marT="0" marB="0"/>
                </a:tc>
                <a:tc hMerge="1">
                  <a:tcPr marL="0" marR="0" marT="0" marB="0"/>
                </a:tc>
              </a:tr>
              <a:tr h="1072515">
                <a:tc>
                  <a:txBody>
                    <a:bodyPr/>
                    <a:lstStyle/>
                    <a:p>
                      <a:pPr marL="31750">
                        <a:lnSpc>
                          <a:spcPct val="100000"/>
                        </a:lnSpc>
                        <a:spcBef>
                          <a:spcPts val="1355"/>
                        </a:spcBef>
                      </a:pPr>
                      <a:r>
                        <a:rPr sz="1450" spc="-10" dirty="0">
                          <a:solidFill>
                            <a:srgbClr val="44536A"/>
                          </a:solidFill>
                          <a:latin typeface="Arial MT"/>
                          <a:cs typeface="Arial MT"/>
                        </a:rPr>
                        <a:t>Address</a:t>
                      </a:r>
                      <a:endParaRPr sz="1450">
                        <a:latin typeface="Arial MT"/>
                        <a:cs typeface="Arial MT"/>
                      </a:endParaRPr>
                    </a:p>
                  </a:txBody>
                  <a:tcPr marL="0" marR="0" marT="172085" marB="0"/>
                </a:tc>
                <a:tc>
                  <a:txBody>
                    <a:bodyPr/>
                    <a:lstStyle/>
                    <a:p>
                      <a:pPr marL="628650">
                        <a:lnSpc>
                          <a:spcPct val="100000"/>
                        </a:lnSpc>
                        <a:spcBef>
                          <a:spcPts val="1355"/>
                        </a:spcBef>
                      </a:pPr>
                      <a:r>
                        <a:rPr sz="1450" spc="-150" dirty="0">
                          <a:solidFill>
                            <a:srgbClr val="44536A"/>
                          </a:solidFill>
                          <a:latin typeface="Arial MT"/>
                          <a:cs typeface="Arial MT"/>
                        </a:rPr>
                        <a:t>Tel:</a:t>
                      </a:r>
                      <a:r>
                        <a:rPr sz="1450" spc="-60" dirty="0">
                          <a:solidFill>
                            <a:srgbClr val="44536A"/>
                          </a:solidFill>
                          <a:latin typeface="Arial MT"/>
                          <a:cs typeface="Arial MT"/>
                        </a:rPr>
                        <a:t> </a:t>
                      </a:r>
                      <a:r>
                        <a:rPr sz="1450" spc="-160" dirty="0">
                          <a:solidFill>
                            <a:srgbClr val="44536A"/>
                          </a:solidFill>
                          <a:latin typeface="Arial MT"/>
                          <a:cs typeface="Arial MT"/>
                        </a:rPr>
                        <a:t>+</a:t>
                      </a:r>
                      <a:r>
                        <a:rPr lang="en-US" sz="1450" spc="-160" dirty="0">
                          <a:solidFill>
                            <a:srgbClr val="44536A"/>
                          </a:solidFill>
                          <a:latin typeface="Arial MT"/>
                          <a:cs typeface="Arial MT"/>
                        </a:rPr>
                        <a:t>91- 8328208151</a:t>
                      </a:r>
                      <a:endParaRPr sz="1450" dirty="0">
                        <a:latin typeface="Arial MT"/>
                        <a:cs typeface="Arial MT"/>
                      </a:endParaRPr>
                    </a:p>
                    <a:p>
                      <a:pPr marL="628650" marR="24130">
                        <a:lnSpc>
                          <a:spcPct val="121000"/>
                        </a:lnSpc>
                      </a:pPr>
                      <a:r>
                        <a:rPr sz="1450" spc="-130" dirty="0">
                          <a:solidFill>
                            <a:srgbClr val="44536A"/>
                          </a:solidFill>
                          <a:latin typeface="Arial MT"/>
                          <a:cs typeface="Arial MT"/>
                        </a:rPr>
                        <a:t>Email:</a:t>
                      </a:r>
                      <a:endParaRPr sz="1450" spc="-130" dirty="0">
                        <a:solidFill>
                          <a:srgbClr val="44536A"/>
                        </a:solidFill>
                        <a:latin typeface="Arial MT"/>
                        <a:cs typeface="Arial MT"/>
                      </a:endParaRPr>
                    </a:p>
                    <a:p>
                      <a:pPr marL="628650" marR="24130">
                        <a:lnSpc>
                          <a:spcPct val="121000"/>
                        </a:lnSpc>
                      </a:pPr>
                      <a:r>
                        <a:rPr lang="en-IN" sz="1450" spc="-45" dirty="0">
                          <a:solidFill>
                            <a:srgbClr val="44536A"/>
                          </a:solidFill>
                          <a:latin typeface="Arial MT"/>
                          <a:cs typeface="Arial MT"/>
                        </a:rPr>
                        <a:t>Sa</a:t>
                      </a:r>
                      <a:r>
                        <a:rPr lang="en-US" altLang="en-IN" sz="1450" spc="-45" dirty="0">
                          <a:solidFill>
                            <a:srgbClr val="44536A"/>
                          </a:solidFill>
                          <a:latin typeface="Arial MT"/>
                          <a:cs typeface="Arial MT"/>
                        </a:rPr>
                        <a:t>nthoshseelam36</a:t>
                      </a:r>
                      <a:r>
                        <a:rPr lang="en-IN" sz="1450" spc="-45" dirty="0">
                          <a:solidFill>
                            <a:srgbClr val="44536A"/>
                          </a:solidFill>
                          <a:latin typeface="Arial MT"/>
                          <a:cs typeface="Arial MT"/>
                        </a:rPr>
                        <a:t>@gmail.co</a:t>
                      </a:r>
                      <a:r>
                        <a:rPr lang="en-US" altLang="en-IN" sz="1450" spc="-45" dirty="0">
                          <a:solidFill>
                            <a:srgbClr val="44536A"/>
                          </a:solidFill>
                          <a:latin typeface="Arial MT"/>
                          <a:cs typeface="Arial MT"/>
                        </a:rPr>
                        <a:t>m</a:t>
                      </a:r>
                      <a:endParaRPr lang="en-US" altLang="en-IN" sz="1450" spc="-45" dirty="0">
                        <a:solidFill>
                          <a:srgbClr val="44536A"/>
                        </a:solidFill>
                        <a:latin typeface="Arial MT"/>
                        <a:cs typeface="Arial MT"/>
                      </a:endParaRPr>
                    </a:p>
                  </a:txBody>
                  <a:tcPr marL="0" marR="0" marT="172085" marB="0"/>
                </a:tc>
              </a:tr>
            </a:tbl>
          </a:graphicData>
        </a:graphic>
      </p:graphicFrame>
      <p:sp>
        <p:nvSpPr>
          <p:cNvPr id="56" name="object 56"/>
          <p:cNvSpPr txBox="1"/>
          <p:nvPr/>
        </p:nvSpPr>
        <p:spPr>
          <a:xfrm>
            <a:off x="5055419" y="10005353"/>
            <a:ext cx="260350" cy="106439"/>
          </a:xfrm>
          <a:prstGeom prst="rect">
            <a:avLst/>
          </a:prstGeom>
        </p:spPr>
        <p:txBody>
          <a:bodyPr vert="horz" wrap="square" lIns="0" tIns="13970" rIns="0" bIns="0" rtlCol="0">
            <a:spAutoFit/>
          </a:bodyPr>
          <a:lstStyle/>
          <a:p>
            <a:pPr marL="12700">
              <a:lnSpc>
                <a:spcPct val="100000"/>
              </a:lnSpc>
              <a:spcBef>
                <a:spcPts val="110"/>
              </a:spcBef>
            </a:pPr>
            <a:r>
              <a:rPr sz="600" spc="-50" dirty="0">
                <a:solidFill>
                  <a:srgbClr val="1BACCF"/>
                </a:solidFill>
                <a:latin typeface="Times New Roman" panose="02020603050405020304" pitchFamily="18" charset="0"/>
                <a:cs typeface="Times New Roman" panose="02020603050405020304" pitchFamily="18" charset="0"/>
              </a:rPr>
              <a:t>7</a:t>
            </a:r>
            <a:endParaRPr sz="600" dirty="0">
              <a:latin typeface="Times New Roman" panose="02020603050405020304" pitchFamily="18" charset="0"/>
              <a:cs typeface="Times New Roman" panose="02020603050405020304" pitchFamily="18" charset="0"/>
            </a:endParaRPr>
          </a:p>
        </p:txBody>
      </p:sp>
      <p:sp>
        <p:nvSpPr>
          <p:cNvPr id="67" name="object 2"/>
          <p:cNvSpPr txBox="1"/>
          <p:nvPr/>
        </p:nvSpPr>
        <p:spPr>
          <a:xfrm>
            <a:off x="144546" y="121003"/>
            <a:ext cx="13868400" cy="380365"/>
          </a:xfrm>
          <a:prstGeom prst="rect">
            <a:avLst/>
          </a:prstGeom>
        </p:spPr>
        <p:txBody>
          <a:bodyPr vert="horz" wrap="square" lIns="0" tIns="11430" rIns="0" bIns="0" rtlCol="0">
            <a:spAutoFit/>
          </a:bodyPr>
          <a:lstStyle/>
          <a:p>
            <a:pPr marL="635" algn="ctr">
              <a:lnSpc>
                <a:spcPct val="100000"/>
              </a:lnSpc>
              <a:spcBef>
                <a:spcPts val="90"/>
              </a:spcBef>
            </a:pPr>
            <a:r>
              <a:rPr lang="en-US" sz="2400" b="1" dirty="0">
                <a:solidFill>
                  <a:schemeClr val="tx1"/>
                </a:solidFill>
                <a:latin typeface="Times New Roman" panose="02020603050405020304" pitchFamily="18" charset="0"/>
                <a:cs typeface="Times New Roman" panose="02020603050405020304" pitchFamily="18" charset="0"/>
              </a:rPr>
              <a:t>SMART CONNECT 2K26 - IoT</a:t>
            </a:r>
            <a:endParaRPr sz="2400" b="1" dirty="0">
              <a:solidFill>
                <a:schemeClr val="tx1"/>
              </a:solidFill>
              <a:latin typeface="Times New Roman" panose="02020603050405020304" pitchFamily="18" charset="0"/>
              <a:cs typeface="Times New Roman" panose="02020603050405020304" pitchFamily="18" charset="0"/>
            </a:endParaRPr>
          </a:p>
        </p:txBody>
      </p:sp>
      <p:cxnSp>
        <p:nvCxnSpPr>
          <p:cNvPr id="69" name="Straight Connector 68"/>
          <p:cNvCxnSpPr/>
          <p:nvPr/>
        </p:nvCxnSpPr>
        <p:spPr>
          <a:xfrm>
            <a:off x="0" y="603250"/>
            <a:ext cx="142113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1938537" y="603250"/>
            <a:ext cx="10272513" cy="0"/>
          </a:xfrm>
          <a:prstGeom prst="line">
            <a:avLst/>
          </a:prstGeom>
        </p:spPr>
        <p:style>
          <a:lnRef idx="3">
            <a:schemeClr val="accent6"/>
          </a:lnRef>
          <a:fillRef idx="0">
            <a:schemeClr val="accent6"/>
          </a:fillRef>
          <a:effectRef idx="2">
            <a:schemeClr val="accent6"/>
          </a:effectRef>
          <a:fontRef idx="minor">
            <a:schemeClr val="tx1"/>
          </a:fontRef>
        </p:style>
      </p:cxnSp>
      <p:pic>
        <p:nvPicPr>
          <p:cNvPr id="65" name="Picture 6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050" y="450850"/>
            <a:ext cx="1905000" cy="1905000"/>
          </a:xfrm>
          <a:prstGeom prst="rect">
            <a:avLst/>
          </a:prstGeom>
        </p:spPr>
      </p:pic>
      <p:sp>
        <p:nvSpPr>
          <p:cNvPr id="74" name="Rectangle 1"/>
          <p:cNvSpPr>
            <a:spLocks noChangeArrowheads="1"/>
          </p:cNvSpPr>
          <p:nvPr/>
        </p:nvSpPr>
        <p:spPr bwMode="auto">
          <a:xfrm>
            <a:off x="603250" y="8243858"/>
            <a:ext cx="3581400" cy="4399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Enhance Energy Monitoring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Use IoT sensors and smart meters to track real-time electricity consumption in industrial systems.</a:t>
            </a: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Enable Remote Load Control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Allow industries to switch and control electrical loads remotely using IoT and GSM communication.</a:t>
            </a: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Monitor Power Usage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Display real-time voltage, current, and energy data through LCD and cloud monitoring platforms.</a:t>
            </a: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Reduce Energy Wastage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Optimize power consumption by identifying unnecessary load usage and improving efficiency.</a:t>
            </a: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84" name="AutoShape 5" descr="Output image"/>
          <p:cNvSpPr>
            <a:spLocks noChangeAspect="1" noChangeArrowheads="1"/>
          </p:cNvSpPr>
          <p:nvPr/>
        </p:nvSpPr>
        <p:spPr bwMode="auto">
          <a:xfrm>
            <a:off x="6953250" y="98996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85" name="AutoShape 7" descr="Output image"/>
          <p:cNvSpPr>
            <a:spLocks noChangeAspect="1" noChangeArrowheads="1"/>
          </p:cNvSpPr>
          <p:nvPr/>
        </p:nvSpPr>
        <p:spPr bwMode="auto">
          <a:xfrm flipV="1">
            <a:off x="7105650" y="8147050"/>
            <a:ext cx="1905000" cy="190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95" name="Rectangle 9"/>
          <p:cNvSpPr>
            <a:spLocks noChangeArrowheads="1"/>
          </p:cNvSpPr>
          <p:nvPr/>
        </p:nvSpPr>
        <p:spPr bwMode="auto">
          <a:xfrm>
            <a:off x="9430385" y="8223885"/>
            <a:ext cx="426720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Kumar, R., Patel, S., &amp; Verma, A. (2020)</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IoT-based energy monitoring system using Arduino and ESP8266. IEEE IoT Journal.</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Zhang, H., Liu, Y., &amp; Chen, Q. (2019)</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Smart energy management system using IoT for industrial applications. IEEE Access.</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Sharma, P. R., &amp; Gupta, V. (2021).</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Remote load control using IoT technology. International Journal of Smart Grid.</a:t>
            </a:r>
            <a:br>
              <a:rPr kumimoji="0" lang="en-US" altLang="en-US" sz="1400" b="0" i="0" u="none" strike="noStrike" cap="none" normalizeH="0" baseline="0" dirty="0">
                <a:ln>
                  <a:noFill/>
                </a:ln>
                <a:solidFill>
                  <a:schemeClr val="tx1"/>
                </a:solidFill>
                <a:effectLst/>
                <a:latin typeface="Arial" panose="020B0604020202020204" pitchFamily="34" charset="0"/>
              </a:rPr>
            </a:b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6" name="object 35"/>
          <p:cNvSpPr txBox="1"/>
          <p:nvPr/>
        </p:nvSpPr>
        <p:spPr>
          <a:xfrm>
            <a:off x="9544050" y="14395450"/>
            <a:ext cx="4375150" cy="272510"/>
          </a:xfrm>
          <a:prstGeom prst="rect">
            <a:avLst/>
          </a:prstGeom>
          <a:solidFill>
            <a:schemeClr val="accent6"/>
          </a:solidFill>
          <a:ln>
            <a:solidFill>
              <a:schemeClr val="accent6"/>
            </a:solidFill>
          </a:ln>
        </p:spPr>
        <p:txBody>
          <a:bodyPr vert="horz" wrap="square" lIns="0" tIns="18415" rIns="0" bIns="0" rtlCol="0">
            <a:spAutoFit/>
          </a:bodyPr>
          <a:lstStyle/>
          <a:p>
            <a:pPr algn="ctr">
              <a:lnSpc>
                <a:spcPct val="100000"/>
              </a:lnSpc>
              <a:spcBef>
                <a:spcPts val="145"/>
              </a:spcBef>
            </a:pPr>
            <a:r>
              <a:rPr lang="en-US" sz="1650" spc="300" dirty="0">
                <a:solidFill>
                  <a:schemeClr val="bg1"/>
                </a:solidFill>
                <a:latin typeface="Times New Roman" panose="02020603050405020304" pitchFamily="18" charset="0"/>
                <a:cs typeface="Times New Roman" panose="02020603050405020304" pitchFamily="18" charset="0"/>
              </a:rPr>
              <a:t>Conclusion:</a:t>
            </a:r>
            <a:endParaRPr sz="1650" spc="300" dirty="0">
              <a:solidFill>
                <a:schemeClr val="bg1"/>
              </a:solidFill>
              <a:latin typeface="Times New Roman" panose="02020603050405020304" pitchFamily="18" charset="0"/>
              <a:cs typeface="Times New Roman" panose="02020603050405020304" pitchFamily="18" charset="0"/>
            </a:endParaRPr>
          </a:p>
        </p:txBody>
      </p:sp>
      <p:pic>
        <p:nvPicPr>
          <p:cNvPr id="47" name="Picture 4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 y="450850"/>
            <a:ext cx="1905000" cy="1905000"/>
          </a:xfrm>
          <a:prstGeom prst="rect">
            <a:avLst/>
          </a:prstGeom>
        </p:spPr>
      </p:pic>
      <p:sp>
        <p:nvSpPr>
          <p:cNvPr id="55" name="TextBox 54"/>
          <p:cNvSpPr txBox="1"/>
          <p:nvPr/>
        </p:nvSpPr>
        <p:spPr>
          <a:xfrm>
            <a:off x="5048250" y="8223250"/>
            <a:ext cx="4026535" cy="5403215"/>
          </a:xfrm>
          <a:prstGeom prst="rect">
            <a:avLst/>
          </a:prstGeom>
          <a:noFill/>
        </p:spPr>
        <p:txBody>
          <a:bodyPr wrap="square">
            <a:noAutofit/>
          </a:bodyPr>
          <a:lstStyle/>
          <a:p>
            <a:r>
              <a:rPr lang="en-US" altLang="en-US" sz="1200" b="1" dirty="0">
                <a:solidFill>
                  <a:schemeClr val="tx1"/>
                </a:solidFill>
                <a:latin typeface="Arial" panose="020B0604020202020204" pitchFamily="34" charset="0"/>
                <a:cs typeface="Arial" panose="020B0604020202020204" pitchFamily="34" charset="0"/>
              </a:rPr>
              <a:t>1. Problem Definition</a:t>
            </a:r>
            <a:endParaRPr lang="en-US" altLang="en-US" sz="1200" b="1"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Identify the industrial energy problem your IoT system will solve.</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Example: Monitoring electricity consumption and remotely controlling loads to reduce energy wastage in industries.</a:t>
            </a:r>
            <a:endParaRPr lang="en-US" altLang="en-US" sz="1200" dirty="0">
              <a:solidFill>
                <a:schemeClr val="tx1"/>
              </a:solidFill>
              <a:latin typeface="Arial" panose="020B0604020202020204" pitchFamily="34" charset="0"/>
              <a:cs typeface="Arial" panose="020B0604020202020204" pitchFamily="34" charset="0"/>
            </a:endParaRPr>
          </a:p>
          <a:p>
            <a:endParaRPr lang="en-US" altLang="en-US" sz="1200" b="1" dirty="0">
              <a:solidFill>
                <a:schemeClr val="tx1"/>
              </a:solidFill>
              <a:latin typeface="Arial" panose="020B0604020202020204" pitchFamily="34" charset="0"/>
              <a:cs typeface="Arial" panose="020B0604020202020204" pitchFamily="34" charset="0"/>
            </a:endParaRPr>
          </a:p>
          <a:p>
            <a:r>
              <a:rPr lang="en-US" altLang="en-US" sz="1200" b="1" dirty="0">
                <a:solidFill>
                  <a:schemeClr val="tx1"/>
                </a:solidFill>
                <a:latin typeface="Arial" panose="020B0604020202020204" pitchFamily="34" charset="0"/>
                <a:cs typeface="Arial" panose="020B0604020202020204" pitchFamily="34" charset="0"/>
              </a:rPr>
              <a:t>2. Literature Review</a:t>
            </a:r>
            <a:endParaRPr lang="en-US" altLang="en-US" sz="1200" b="1"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Research existing energy monitoring and smart power management systems.</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Identify limitations such as lack of remote control, poor real-time monitoring, or dependency on a single communication system.</a:t>
            </a:r>
            <a:endParaRPr lang="en-US" altLang="en-US" sz="1200" dirty="0">
              <a:solidFill>
                <a:schemeClr val="tx1"/>
              </a:solidFill>
              <a:latin typeface="Arial" panose="020B0604020202020204" pitchFamily="34" charset="0"/>
              <a:cs typeface="Arial" panose="020B0604020202020204" pitchFamily="34" charset="0"/>
            </a:endParaRPr>
          </a:p>
          <a:p>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b="1" dirty="0">
                <a:solidFill>
                  <a:schemeClr val="tx1"/>
                </a:solidFill>
                <a:latin typeface="Arial" panose="020B0604020202020204" pitchFamily="34" charset="0"/>
                <a:cs typeface="Arial" panose="020B0604020202020204" pitchFamily="34" charset="0"/>
              </a:rPr>
              <a:t>3. System Design</a:t>
            </a:r>
            <a:endParaRPr lang="en-US" altLang="en-US" sz="1200" b="1" dirty="0">
              <a:solidFill>
                <a:schemeClr val="tx1"/>
              </a:solidFill>
              <a:latin typeface="Arial" panose="020B0604020202020204" pitchFamily="34" charset="0"/>
              <a:cs typeface="Arial" panose="020B0604020202020204" pitchFamily="34" charset="0"/>
            </a:endParaRPr>
          </a:p>
          <a:p>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b="1" dirty="0">
                <a:solidFill>
                  <a:schemeClr val="tx1"/>
                </a:solidFill>
                <a:latin typeface="Arial" panose="020B0604020202020204" pitchFamily="34" charset="0"/>
                <a:cs typeface="Arial" panose="020B0604020202020204" pitchFamily="34" charset="0"/>
              </a:rPr>
              <a:t>a. Block Diagram</a:t>
            </a:r>
            <a:endParaRPr lang="en-US" altLang="en-US" sz="1200" b="1"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Draw a block diagram showing energy meter, Arduino microcontroller, IoT module (ESP8266), GSM module, relay control, cloud/server, and user monitoring interface.</a:t>
            </a:r>
            <a:endParaRPr lang="en-US" altLang="en-US" sz="1200" dirty="0">
              <a:solidFill>
                <a:schemeClr val="tx1"/>
              </a:solidFill>
              <a:latin typeface="Arial" panose="020B0604020202020204" pitchFamily="34" charset="0"/>
              <a:cs typeface="Arial" panose="020B0604020202020204" pitchFamily="34" charset="0"/>
            </a:endParaRPr>
          </a:p>
          <a:p>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b="1" dirty="0">
                <a:solidFill>
                  <a:schemeClr val="tx1"/>
                </a:solidFill>
                <a:latin typeface="Arial" panose="020B0604020202020204" pitchFamily="34" charset="0"/>
                <a:cs typeface="Arial" panose="020B0604020202020204" pitchFamily="34" charset="0"/>
              </a:rPr>
              <a:t>b. Hardware &amp; Software Components</a:t>
            </a:r>
            <a:endParaRPr lang="en-US" altLang="en-US" sz="1200" b="1"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List and describe each:</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Energy Meter (for power measurement)</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Microcontroller (Arduino UNO)</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Communication Modules (Wi-Fi, GSM )</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Programming Environment (Arduino IDE)</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Cloud / Real-Time Server for monitoring</a:t>
            </a:r>
            <a:endParaRPr lang="en-US" altLang="en-US" sz="1200" dirty="0">
              <a:solidFill>
                <a:schemeClr val="tx1"/>
              </a:solidFill>
              <a:latin typeface="Arial" panose="020B0604020202020204" pitchFamily="34" charset="0"/>
              <a:cs typeface="Arial" panose="020B0604020202020204" pitchFamily="34" charset="0"/>
            </a:endParaRPr>
          </a:p>
          <a:p>
            <a:r>
              <a:rPr lang="en-US" altLang="en-US" sz="1200" dirty="0">
                <a:solidFill>
                  <a:schemeClr val="tx1"/>
                </a:solidFill>
                <a:latin typeface="Arial" panose="020B0604020202020204" pitchFamily="34" charset="0"/>
                <a:cs typeface="Arial" panose="020B0604020202020204" pitchFamily="34" charset="0"/>
              </a:rPr>
              <a:t>LCD Display for system status and readings</a:t>
            </a:r>
            <a:endParaRPr lang="en-US" altLang="en-US" sz="1200" dirty="0">
              <a:solidFill>
                <a:schemeClr val="tx1"/>
              </a:solidFill>
              <a:latin typeface="Arial" panose="020B0604020202020204" pitchFamily="34" charset="0"/>
              <a:cs typeface="Arial" panose="020B0604020202020204" pitchFamily="34" charset="0"/>
            </a:endParaRPr>
          </a:p>
        </p:txBody>
      </p:sp>
      <p:sp>
        <p:nvSpPr>
          <p:cNvPr id="10" name="Rectangle 1"/>
          <p:cNvSpPr>
            <a:spLocks noChangeArrowheads="1"/>
          </p:cNvSpPr>
          <p:nvPr/>
        </p:nvSpPr>
        <p:spPr bwMode="auto">
          <a:xfrm>
            <a:off x="9620250" y="14727764"/>
            <a:ext cx="4343400" cy="20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Arial" panose="020B0604020202020204" pitchFamily="34" charset="0"/>
              </a:rPr>
              <a:t>The proposed IoT-based system successfully monitors industrial electricity consumption and controls electrical loads efficiently. Real-time data monitoring and remote operation improve energy management while reducing manual intervention. This project demonstrates how IoT technology can support smarter, more efficient, and sustainable industrial energy solutions.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1" name="Picture 4" descr="unit"/>
          <p:cNvPicPr>
            <a:picLocks noChangeAspect="1"/>
          </p:cNvPicPr>
          <p:nvPr/>
        </p:nvPicPr>
        <p:blipFill>
          <a:blip r:embed="rId3"/>
          <a:stretch>
            <a:fillRect/>
          </a:stretch>
        </p:blipFill>
        <p:spPr>
          <a:xfrm>
            <a:off x="9561830" y="5099685"/>
            <a:ext cx="3860800" cy="2620645"/>
          </a:xfrm>
          <a:prstGeom prst="rect">
            <a:avLst/>
          </a:prstGeom>
        </p:spPr>
      </p:pic>
      <p:pic>
        <p:nvPicPr>
          <p:cNvPr id="5" name="Picture 4" descr="outcomes"/>
          <p:cNvPicPr>
            <a:picLocks noChangeAspect="1"/>
          </p:cNvPicPr>
          <p:nvPr/>
        </p:nvPicPr>
        <p:blipFill>
          <a:blip r:embed="rId4"/>
          <a:stretch>
            <a:fillRect/>
          </a:stretch>
        </p:blipFill>
        <p:spPr>
          <a:xfrm>
            <a:off x="400050" y="16605250"/>
            <a:ext cx="3966210" cy="2644775"/>
          </a:xfrm>
          <a:prstGeom prst="rect">
            <a:avLst/>
          </a:prstGeom>
        </p:spPr>
      </p:pic>
      <p:pic>
        <p:nvPicPr>
          <p:cNvPr id="6" name="Picture 5" descr="intro"/>
          <p:cNvPicPr>
            <a:picLocks noChangeAspect="1"/>
          </p:cNvPicPr>
          <p:nvPr/>
        </p:nvPicPr>
        <p:blipFill>
          <a:blip r:embed="rId5"/>
          <a:stretch>
            <a:fillRect/>
          </a:stretch>
        </p:blipFill>
        <p:spPr>
          <a:xfrm>
            <a:off x="429260" y="5016500"/>
            <a:ext cx="3878580" cy="2586990"/>
          </a:xfrm>
          <a:prstGeom prst="rect">
            <a:avLst/>
          </a:prstGeom>
        </p:spPr>
      </p:pic>
      <p:pic>
        <p:nvPicPr>
          <p:cNvPr id="12" name="Picture 11" descr="bf"/>
          <p:cNvPicPr>
            <a:picLocks noChangeAspect="1"/>
          </p:cNvPicPr>
          <p:nvPr/>
        </p:nvPicPr>
        <p:blipFill>
          <a:blip r:embed="rId6"/>
          <a:stretch>
            <a:fillRect/>
          </a:stretch>
        </p:blipFill>
        <p:spPr>
          <a:xfrm>
            <a:off x="5124450" y="14090650"/>
            <a:ext cx="4034155" cy="2789555"/>
          </a:xfrm>
          <a:prstGeom prst="rect">
            <a:avLst/>
          </a:prstGeom>
        </p:spPr>
      </p:pic>
      <p:pic>
        <p:nvPicPr>
          <p:cNvPr id="17" name="Picture 16" descr="hardware"/>
          <p:cNvPicPr>
            <a:picLocks noChangeAspect="1"/>
          </p:cNvPicPr>
          <p:nvPr/>
        </p:nvPicPr>
        <p:blipFill>
          <a:blip r:embed="rId7"/>
          <a:stretch>
            <a:fillRect/>
          </a:stretch>
        </p:blipFill>
        <p:spPr>
          <a:xfrm>
            <a:off x="5055235" y="17214850"/>
            <a:ext cx="4147185" cy="2042160"/>
          </a:xfrm>
          <a:prstGeom prst="rect">
            <a:avLst/>
          </a:prstGeom>
        </p:spPr>
      </p:pic>
    </p:spTree>
  </p:cSld>
  <p:clrMapOvr>
    <a:masterClrMapping/>
  </p:clrMapOvr>
</p:sld>
</file>

<file path=ppt/tags/tag1.xml><?xml version="1.0" encoding="utf-8"?>
<p:tagLst xmlns:p="http://schemas.openxmlformats.org/presentationml/2006/main">
  <p:tag name="TABLE_ENDDRAG_ORIGIN_RECT" val="364*217"/>
  <p:tag name="TABLE_ENDDRAG_RECT" val="748*1367*364*21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4903</Words>
  <Application>WPS Presentation</Application>
  <PresentationFormat>Custom</PresentationFormat>
  <Paragraphs>138</Paragraphs>
  <Slides>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SimSun</vt:lpstr>
      <vt:lpstr>Wingdings</vt:lpstr>
      <vt:lpstr>Times New Roman</vt:lpstr>
      <vt:lpstr>Microsoft JhengHei</vt:lpstr>
      <vt:lpstr>Arial</vt:lpstr>
      <vt:lpstr>Arial MT</vt:lpstr>
      <vt:lpstr>Microsoft YaHei</vt:lpstr>
      <vt:lpstr>Arial Unicode MS</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Manikyam</dc:creator>
  <cp:lastModifiedBy>Seelam Santhosh</cp:lastModifiedBy>
  <cp:revision>34</cp:revision>
  <dcterms:created xsi:type="dcterms:W3CDTF">2025-01-11T13:52:00Z</dcterms:created>
  <dcterms:modified xsi:type="dcterms:W3CDTF">2026-03-28T07:22:56Z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2024-04-03T22:00:00Z</vt:filetime>
  </property>
  <property fmtid="{D5CDD505-2E9C-101B-9397-08002B2CF9AE}" pid="3" name="Creator">
    <vt:lpwstr>Microsoft® PowerPoint® 2016</vt:lpwstr>
  </property>
  <property fmtid="{D5CDD505-2E9C-101B-9397-08002B2CF9AE}" pid="4" name="LastSaved">
    <vt:filetime>2025-01-11T22:00:00Z</vt:filetime>
  </property>
  <property fmtid="{D5CDD505-2E9C-101B-9397-08002B2CF9AE}" pid="5" name="Producer">
    <vt:lpwstr>www.ilovepdf.com</vt:lpwstr>
  </property>
  <property fmtid="{D5CDD505-2E9C-101B-9397-08002B2CF9AE}" pid="6" name="ICV">
    <vt:lpwstr>C4FBE4C9FE2B4B81B45634BCA38D6A01_13</vt:lpwstr>
  </property>
  <property fmtid="{D5CDD505-2E9C-101B-9397-08002B2CF9AE}" pid="7" name="KSOProductBuildVer">
    <vt:lpwstr>1033-12.1.0.25830</vt:lpwstr>
  </property>
</Properties>
</file>